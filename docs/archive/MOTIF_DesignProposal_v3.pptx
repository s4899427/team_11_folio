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COVER SLIDE - not part of the 5 timed slides. Quick verbal intro: 'We're Team 11, and this is MOTIF.' then move straight into Slide 1 to start the actual 10-minute presentation.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Hi, we're Team MOTIF. Between the four of us we've got design, tech, art and research backgrounds, and we've deliberately split our roles to stretch each of us rather than just play to what we're already good at. Dylan's been leading our research synthesis and documentation. Pranav's driving audience research and content. Shaz owns the technical build, especially scoping our AR feature. And Paul's handling media and interview capture. We're a small team, but between us we've already done six user interviews, which we'll get into shortly.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So what's the actual problem we're solving? Globally, people spend almost 21 hours a week listening to music, and 44% are actively discovering new artists weekly - that's IFPI's 2023 global survey data. But recent research from this year's WWW conference found something interesting: recommendation algorithms actually narrow what we're exposed to rather than opening it up - they flatten the differences between what different people hear. And this isn't just one of us saying it - three of us interviewed completely different people, independently, and got the same answer back. Dylan's participant R1-F said, quoting directly, 'I just want it to be more human focused. Algorithm has ruined the taste - no fun, no randomness to it.' Pranav's participant said, 'Just tell me what's happening near me that people I trust are into. Not what a machine thinks I'll click.' And Shaz's participant R1-C, a resident doctor, said everything feels very algorithm-driven and she wants to discover things more naturally. Three separate interviews, same gap. That's what we're designing into.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So here's our opportunity. We're building a living, wiki-style space for world culture - pick any tradition and see it holistically. Not just the music, but the instruments, the fashion and fabric, the food, the art, the stories, tied together in one place instead of scattered across five different searches. Streaming music and a lightweight remix feature called Drop sit alongside this, but the encyclopedic core is really the point. Just to be clear - these culture examples on screen are illustrative only. The framework's meant to generalise across any culture, not just these five. We looked at what's already out there: Spotify and Apple Music are solo listening with social as an afterthought. Wikipedia is deep on facts but has zero lived culture, no music, no community voice. Instagram and TikTok are where discovery actually happens today, but it's ephemeral and unsearchable. And artist-follow apps like Bandsintown are useless if you're exploring a culture you haven't met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None of this is guesswork - it's grounded in six real interviews we've already conducted, across a real spread of ages, professions and backgrounds: a resident doctor, two university students, two ex-UQ graduates, and one international participant based in India. A few patterns came through clearly. On values: people want authorship over their own taste, and credit going to the person who put them onto something - not the platform. On workflows: it's screenshot, group chat, forget - discovery happens socially and then just dies in the camera roll. On skills: our participants are already fluent across four different apps just to express one identity, and none of those tools treat curation as real work. And on priorities: people want low effort on ordinary days, but they're willing to put in real effort for an occasion - and several told us local relevance beats broad browsing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So what's left to figure out? We've still got open questions: how much of the app should be encyclopedic wiki content versus the social Drop and Remix feature; whether people will actually contribute cultural content or just consume it; who decides accuracy when two contributors describe the same tradition differently, since we've committed to community-authored content rather than writing it top-down ourselves; whether local relevance really does beat broad discovery, which is what our interviews are pointing to so far; and why someone would actually want to share their culture in the first place, with strangers or only people they know. Our methods going forward: we've done six semi-structured interviews, with about two more planned - specifically targeting different cultural backgrounds and states, since most of our sample so far has been UQ-adjacent - plus a one-week cultural probe diary study, contextual observation at a local venue and market, a paper-prototype comparison test, and think-aloud usability testing once we start building. Timeline-wise: Week 6 we finish interviews and get concept variants onto paper. Week 7 we test with five participants and lock the concept. Weeks 8 and 9, information architecture and a clickable mid-fidelity Figma prototype. Weeks 10 and 11, we build the real core loop, simulating everything around it. Weeks 12 and 13, usability testing and final documentation. Thanks - happy to take any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117"/>
        </a:solidFill>
      </p:bgPr>
    </p:bg>
    <p:spTree>
      <p:nvGrpSpPr>
        <p:cNvPr id="1" name=""/>
        <p:cNvGrpSpPr/>
        <p:nvPr/>
      </p:nvGrpSpPr>
      <p:grpSpPr>
        <a:xfrm>
          <a:off x="0" y="0"/>
          <a:ext cx="0" cy="0"/>
          <a:chOff x="0" y="0"/>
          <a:chExt cx="0" cy="0"/>
        </a:xfrm>
      </p:grpSpPr>
      <p:sp>
        <p:nvSpPr>
          <p:cNvPr id="2" name="Shape 0"/>
          <p:cNvSpPr/>
          <p:nvPr/>
        </p:nvSpPr>
        <p:spPr>
          <a:xfrm>
            <a:off x="0" y="0"/>
            <a:ext cx="12188952" cy="109728"/>
          </a:xfrm>
          <a:prstGeom prst="roundRect">
            <a:avLst/>
          </a:prstGeom>
          <a:solidFill>
            <a:srgbClr val="2AC9B8"/>
          </a:solidFill>
          <a:ln/>
        </p:spPr>
        <p:txBody>
          <a:bodyPr/>
          <a:p/>
        </p:txBody>
      </p:sp>
      <p:sp>
        <p:nvSpPr>
          <p:cNvPr id="3" name="Shape 1"/>
          <p:cNvSpPr/>
          <p:nvPr/>
        </p:nvSpPr>
        <p:spPr>
          <a:xfrm>
            <a:off x="4974336" y="1188720"/>
            <a:ext cx="2240280" cy="457200"/>
          </a:xfrm>
          <a:prstGeom prst="roundRect">
            <a:avLst>
              <a:gd name="adj" fmla="val 60000"/>
            </a:avLst>
          </a:prstGeom>
          <a:solidFill>
            <a:srgbClr val="1B2130"/>
          </a:solidFill>
          <a:ln w="12700">
            <a:solidFill>
              <a:srgbClr val="F0447E"/>
            </a:solidFill>
            <a:prstDash val="solid"/>
          </a:ln>
        </p:spPr>
        <p:txBody>
          <a:bodyPr/>
          <a:p/>
        </p:txBody>
      </p:sp>
      <p:sp>
        <p:nvSpPr>
          <p:cNvPr id="4" name="Text 2"/>
          <p:cNvSpPr/>
          <p:nvPr/>
        </p:nvSpPr>
        <p:spPr>
          <a:xfrm>
            <a:off x="4974336" y="1188720"/>
            <a:ext cx="2240280" cy="457200"/>
          </a:xfrm>
          <a:prstGeom prst="rect">
            <a:avLst/>
          </a:prstGeom>
          <a:noFill/>
          <a:ln/>
        </p:spPr>
        <p:txBody>
          <a:bodyPr wrap="square" lIns="0" tIns="0" rIns="0" bIns="0" rtlCol="0" anchor="ctr"/>
          <a:lstStyle/>
          <a:p>
            <a:pPr algn="ctr" indent="0" marL="0">
              <a:buNone/>
            </a:pPr>
            <a:r>
              <a:rPr lang="en-US" sz="1200" b="1" spc="200" kern="0" dirty="0">
                <a:solidFill>
                  <a:srgbClr val="F0447E"/>
                </a:solidFill>
                <a:latin typeface="Verdana" pitchFamily="34" charset="0"/>
                <a:ea typeface="Verdana" pitchFamily="34" charset="-122"/>
                <a:cs typeface="Verdana" pitchFamily="34" charset="-120"/>
              </a:rPr>
              <a:t>TEAM 11</a:t>
            </a:r>
            <a:endParaRPr lang="en-US" sz="1200" dirty="0"/>
          </a:p>
        </p:txBody>
      </p:sp>
      <p:sp>
        <p:nvSpPr>
          <p:cNvPr id="5" name="Text 3"/>
          <p:cNvSpPr/>
          <p:nvPr/>
        </p:nvSpPr>
        <p:spPr>
          <a:xfrm>
            <a:off x="548640" y="1828800"/>
            <a:ext cx="11091672" cy="1188720"/>
          </a:xfrm>
          <a:prstGeom prst="rect">
            <a:avLst/>
          </a:prstGeom>
          <a:noFill/>
          <a:ln/>
        </p:spPr>
        <p:txBody>
          <a:bodyPr wrap="square" lIns="0" tIns="0" rIns="0" bIns="0" rtlCol="0" anchor="ctr"/>
          <a:lstStyle/>
          <a:p>
            <a:pPr algn="ctr" indent="0" marL="0">
              <a:buNone/>
            </a:pPr>
            <a:r>
              <a:rPr lang="en-US" sz="5200" b="1" spc="400" kern="0" dirty="0">
                <a:solidFill>
                  <a:srgbClr val="2AC9B8"/>
                </a:solidFill>
                <a:latin typeface="Trebuchet MS" pitchFamily="34" charset="0"/>
                <a:ea typeface="Trebuchet MS" pitchFamily="34" charset="-122"/>
                <a:cs typeface="Trebuchet MS" pitchFamily="34" charset="-120"/>
              </a:rPr>
              <a:t>M</a:t>
            </a:r>
            <a:pPr algn="ctr" indent="0" marL="0">
              <a:buNone/>
            </a:pPr>
            <a:r>
              <a:rPr lang="en-US" sz="5200" b="1" spc="400" kern="0" dirty="0">
                <a:solidFill>
                  <a:srgbClr val="2AC9B8"/>
                </a:solidFill>
                <a:latin typeface="Trebuchet MS" pitchFamily="34" charset="0"/>
                <a:ea typeface="Trebuchet MS" pitchFamily="34" charset="-122"/>
                <a:cs typeface="Trebuchet MS" pitchFamily="34" charset="-120"/>
              </a:rPr>
              <a:t>O</a:t>
            </a:r>
            <a:pPr algn="ctr" indent="0" marL="0">
              <a:buNone/>
            </a:pPr>
            <a:r>
              <a:rPr lang="en-US" sz="5200" b="1" spc="400" kern="0" dirty="0">
                <a:solidFill>
                  <a:srgbClr val="E8663A"/>
                </a:solidFill>
                <a:latin typeface="Trebuchet MS" pitchFamily="34" charset="0"/>
                <a:ea typeface="Trebuchet MS" pitchFamily="34" charset="-122"/>
                <a:cs typeface="Trebuchet MS" pitchFamily="34" charset="-120"/>
              </a:rPr>
              <a:t>T</a:t>
            </a:r>
            <a:pPr algn="ctr" indent="0" marL="0">
              <a:buNone/>
            </a:pPr>
            <a:r>
              <a:rPr lang="en-US" sz="5200" b="1" spc="400" kern="0" dirty="0">
                <a:solidFill>
                  <a:srgbClr val="F0447E"/>
                </a:solidFill>
                <a:latin typeface="Trebuchet MS" pitchFamily="34" charset="0"/>
                <a:ea typeface="Trebuchet MS" pitchFamily="34" charset="-122"/>
                <a:cs typeface="Trebuchet MS" pitchFamily="34" charset="-120"/>
              </a:rPr>
              <a:t>I</a:t>
            </a:r>
            <a:pPr algn="ctr" indent="0" marL="0">
              <a:buNone/>
            </a:pPr>
            <a:r>
              <a:rPr lang="en-US" sz="5200" b="1" spc="400" kern="0" dirty="0">
                <a:solidFill>
                  <a:srgbClr val="F0447E"/>
                </a:solidFill>
                <a:latin typeface="Trebuchet MS" pitchFamily="34" charset="0"/>
                <a:ea typeface="Trebuchet MS" pitchFamily="34" charset="-122"/>
                <a:cs typeface="Trebuchet MS" pitchFamily="34" charset="-120"/>
              </a:rPr>
              <a:t>F</a:t>
            </a:r>
            <a:endParaRPr lang="en-US" sz="5200" dirty="0"/>
          </a:p>
        </p:txBody>
      </p:sp>
      <p:sp>
        <p:nvSpPr>
          <p:cNvPr id="6" name="Shape 4"/>
          <p:cNvSpPr/>
          <p:nvPr/>
        </p:nvSpPr>
        <p:spPr>
          <a:xfrm>
            <a:off x="5175504" y="3246120"/>
            <a:ext cx="1828800" cy="0"/>
          </a:xfrm>
          <a:prstGeom prst="line">
            <a:avLst/>
          </a:prstGeom>
          <a:noFill/>
          <a:ln w="19050">
            <a:solidFill>
              <a:srgbClr val="E8663A"/>
            </a:solidFill>
            <a:prstDash val="solid"/>
          </a:ln>
        </p:spPr>
        <p:txBody>
          <a:bodyPr/>
          <a:p/>
        </p:txBody>
      </p:sp>
      <p:sp>
        <p:nvSpPr>
          <p:cNvPr id="7" name="Shape 5"/>
          <p:cNvSpPr/>
          <p:nvPr/>
        </p:nvSpPr>
        <p:spPr>
          <a:xfrm>
            <a:off x="1110996" y="3749040"/>
            <a:ext cx="2286000" cy="548640"/>
          </a:xfrm>
          <a:prstGeom prst="roundRect">
            <a:avLst>
              <a:gd name="adj" fmla="val 50000"/>
            </a:avLst>
          </a:prstGeom>
          <a:solidFill>
            <a:srgbClr val="1B2130"/>
          </a:solidFill>
          <a:ln w="9525">
            <a:solidFill>
              <a:srgbClr val="2AC9B8"/>
            </a:solidFill>
            <a:prstDash val="solid"/>
          </a:ln>
        </p:spPr>
        <p:txBody>
          <a:bodyPr/>
          <a:p/>
        </p:txBody>
      </p:sp>
      <p:sp>
        <p:nvSpPr>
          <p:cNvPr id="8" name="Text 6"/>
          <p:cNvSpPr/>
          <p:nvPr/>
        </p:nvSpPr>
        <p:spPr>
          <a:xfrm>
            <a:off x="1110996" y="3749040"/>
            <a:ext cx="2286000" cy="548640"/>
          </a:xfrm>
          <a:prstGeom prst="rect">
            <a:avLst/>
          </a:prstGeom>
          <a:noFill/>
          <a:ln/>
        </p:spPr>
        <p:txBody>
          <a:bodyPr wrap="square" lIns="0" tIns="0" rIns="0" bIns="0" rtlCol="0" anchor="ctr"/>
          <a:lstStyle/>
          <a:p>
            <a:pPr algn="ctr" indent="0" marL="0">
              <a:buNone/>
            </a:pPr>
            <a:r>
              <a:rPr lang="en-US" sz="1300" b="1" dirty="0">
                <a:solidFill>
                  <a:srgbClr val="F5F0E6"/>
                </a:solidFill>
                <a:latin typeface="Trebuchet MS" pitchFamily="34" charset="0"/>
                <a:ea typeface="Trebuchet MS" pitchFamily="34" charset="-122"/>
                <a:cs typeface="Trebuchet MS" pitchFamily="34" charset="-120"/>
              </a:rPr>
              <a:t>Dylan</a:t>
            </a:r>
            <a:endParaRPr lang="en-US" sz="1300" dirty="0"/>
          </a:p>
        </p:txBody>
      </p:sp>
      <p:sp>
        <p:nvSpPr>
          <p:cNvPr id="9" name="Shape 7"/>
          <p:cNvSpPr/>
          <p:nvPr/>
        </p:nvSpPr>
        <p:spPr>
          <a:xfrm>
            <a:off x="3671316" y="3749040"/>
            <a:ext cx="2286000" cy="548640"/>
          </a:xfrm>
          <a:prstGeom prst="roundRect">
            <a:avLst>
              <a:gd name="adj" fmla="val 50000"/>
            </a:avLst>
          </a:prstGeom>
          <a:solidFill>
            <a:srgbClr val="1B2130"/>
          </a:solidFill>
          <a:ln w="9525">
            <a:solidFill>
              <a:srgbClr val="E8663A"/>
            </a:solidFill>
            <a:prstDash val="solid"/>
          </a:ln>
        </p:spPr>
        <p:txBody>
          <a:bodyPr/>
          <a:p/>
        </p:txBody>
      </p:sp>
      <p:sp>
        <p:nvSpPr>
          <p:cNvPr id="10" name="Text 8"/>
          <p:cNvSpPr/>
          <p:nvPr/>
        </p:nvSpPr>
        <p:spPr>
          <a:xfrm>
            <a:off x="3671316" y="3749040"/>
            <a:ext cx="2286000" cy="548640"/>
          </a:xfrm>
          <a:prstGeom prst="rect">
            <a:avLst/>
          </a:prstGeom>
          <a:noFill/>
          <a:ln/>
        </p:spPr>
        <p:txBody>
          <a:bodyPr wrap="square" lIns="0" tIns="0" rIns="0" bIns="0" rtlCol="0" anchor="ctr"/>
          <a:lstStyle/>
          <a:p>
            <a:pPr algn="ctr" indent="0" marL="0">
              <a:buNone/>
            </a:pPr>
            <a:r>
              <a:rPr lang="en-US" sz="1300" b="1" dirty="0">
                <a:solidFill>
                  <a:srgbClr val="F5F0E6"/>
                </a:solidFill>
                <a:latin typeface="Trebuchet MS" pitchFamily="34" charset="0"/>
                <a:ea typeface="Trebuchet MS" pitchFamily="34" charset="-122"/>
                <a:cs typeface="Trebuchet MS" pitchFamily="34" charset="-120"/>
              </a:rPr>
              <a:t>Pranav</a:t>
            </a:r>
            <a:endParaRPr lang="en-US" sz="1300" dirty="0"/>
          </a:p>
        </p:txBody>
      </p:sp>
      <p:sp>
        <p:nvSpPr>
          <p:cNvPr id="11" name="Shape 9"/>
          <p:cNvSpPr/>
          <p:nvPr/>
        </p:nvSpPr>
        <p:spPr>
          <a:xfrm>
            <a:off x="6231636" y="3749040"/>
            <a:ext cx="2286000" cy="548640"/>
          </a:xfrm>
          <a:prstGeom prst="roundRect">
            <a:avLst>
              <a:gd name="adj" fmla="val 50000"/>
            </a:avLst>
          </a:prstGeom>
          <a:solidFill>
            <a:srgbClr val="1B2130"/>
          </a:solidFill>
          <a:ln w="9525">
            <a:solidFill>
              <a:srgbClr val="F0447E"/>
            </a:solidFill>
            <a:prstDash val="solid"/>
          </a:ln>
        </p:spPr>
        <p:txBody>
          <a:bodyPr/>
          <a:p/>
        </p:txBody>
      </p:sp>
      <p:sp>
        <p:nvSpPr>
          <p:cNvPr id="12" name="Text 10"/>
          <p:cNvSpPr/>
          <p:nvPr/>
        </p:nvSpPr>
        <p:spPr>
          <a:xfrm>
            <a:off x="6231636" y="3749040"/>
            <a:ext cx="2286000" cy="548640"/>
          </a:xfrm>
          <a:prstGeom prst="rect">
            <a:avLst/>
          </a:prstGeom>
          <a:noFill/>
          <a:ln/>
        </p:spPr>
        <p:txBody>
          <a:bodyPr wrap="square" lIns="0" tIns="0" rIns="0" bIns="0" rtlCol="0" anchor="ctr"/>
          <a:lstStyle/>
          <a:p>
            <a:pPr algn="ctr" indent="0" marL="0">
              <a:buNone/>
            </a:pPr>
            <a:r>
              <a:rPr lang="en-US" sz="1300" b="1" dirty="0">
                <a:solidFill>
                  <a:srgbClr val="F5F0E6"/>
                </a:solidFill>
                <a:latin typeface="Trebuchet MS" pitchFamily="34" charset="0"/>
                <a:ea typeface="Trebuchet MS" pitchFamily="34" charset="-122"/>
                <a:cs typeface="Trebuchet MS" pitchFamily="34" charset="-120"/>
              </a:rPr>
              <a:t>Shaz</a:t>
            </a:r>
            <a:endParaRPr lang="en-US" sz="1300" dirty="0"/>
          </a:p>
        </p:txBody>
      </p:sp>
      <p:sp>
        <p:nvSpPr>
          <p:cNvPr id="13" name="Shape 11"/>
          <p:cNvSpPr/>
          <p:nvPr/>
        </p:nvSpPr>
        <p:spPr>
          <a:xfrm>
            <a:off x="8791956" y="3749040"/>
            <a:ext cx="2286000" cy="548640"/>
          </a:xfrm>
          <a:prstGeom prst="roundRect">
            <a:avLst>
              <a:gd name="adj" fmla="val 50000"/>
            </a:avLst>
          </a:prstGeom>
          <a:solidFill>
            <a:srgbClr val="1B2130"/>
          </a:solidFill>
          <a:ln w="9525">
            <a:solidFill>
              <a:srgbClr val="2AC9B8"/>
            </a:solidFill>
            <a:prstDash val="solid"/>
          </a:ln>
        </p:spPr>
        <p:txBody>
          <a:bodyPr/>
          <a:p/>
        </p:txBody>
      </p:sp>
      <p:sp>
        <p:nvSpPr>
          <p:cNvPr id="14" name="Text 12"/>
          <p:cNvSpPr/>
          <p:nvPr/>
        </p:nvSpPr>
        <p:spPr>
          <a:xfrm>
            <a:off x="8791956" y="3749040"/>
            <a:ext cx="2286000" cy="548640"/>
          </a:xfrm>
          <a:prstGeom prst="rect">
            <a:avLst/>
          </a:prstGeom>
          <a:noFill/>
          <a:ln/>
        </p:spPr>
        <p:txBody>
          <a:bodyPr wrap="square" lIns="0" tIns="0" rIns="0" bIns="0" rtlCol="0" anchor="ctr"/>
          <a:lstStyle/>
          <a:p>
            <a:pPr algn="ctr" indent="0" marL="0">
              <a:buNone/>
            </a:pPr>
            <a:r>
              <a:rPr lang="en-US" sz="1300" b="1" dirty="0">
                <a:solidFill>
                  <a:srgbClr val="F5F0E6"/>
                </a:solidFill>
                <a:latin typeface="Trebuchet MS" pitchFamily="34" charset="0"/>
                <a:ea typeface="Trebuchet MS" pitchFamily="34" charset="-122"/>
                <a:cs typeface="Trebuchet MS" pitchFamily="34" charset="-120"/>
              </a:rPr>
              <a:t>Paul</a:t>
            </a:r>
            <a:endParaRPr lang="en-US" sz="1300" dirty="0"/>
          </a:p>
        </p:txBody>
      </p:sp>
      <p:sp>
        <p:nvSpPr>
          <p:cNvPr id="15" name="Text 13"/>
          <p:cNvSpPr/>
          <p:nvPr/>
        </p:nvSpPr>
        <p:spPr>
          <a:xfrm>
            <a:off x="548640" y="6126480"/>
            <a:ext cx="11091672" cy="320040"/>
          </a:xfrm>
          <a:prstGeom prst="rect">
            <a:avLst/>
          </a:prstGeom>
          <a:noFill/>
          <a:ln/>
        </p:spPr>
        <p:txBody>
          <a:bodyPr wrap="square" lIns="0" tIns="0" rIns="0" bIns="0" rtlCol="0" anchor="ctr"/>
          <a:lstStyle/>
          <a:p>
            <a:pPr algn="ctr" indent="0" marL="0">
              <a:buNone/>
            </a:pPr>
            <a:r>
              <a:rPr lang="en-US" sz="1000" spc="150" kern="0" dirty="0">
                <a:solidFill>
                  <a:srgbClr val="8A93A6"/>
                </a:solidFill>
                <a:latin typeface="Verdana" pitchFamily="34" charset="0"/>
                <a:ea typeface="Verdana" pitchFamily="34" charset="-122"/>
                <a:cs typeface="Verdana" pitchFamily="34" charset="-120"/>
              </a:rPr>
              <a:t>DESIGN PROPOSAL · DECO3500 · SEMESTER 2, 2026</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548640" y="457200"/>
            <a:ext cx="5486400" cy="457200"/>
          </a:xfrm>
          <a:prstGeom prst="rect">
            <a:avLst/>
          </a:prstGeom>
          <a:noFill/>
          <a:ln/>
        </p:spPr>
        <p:txBody>
          <a:bodyPr wrap="square" lIns="0" tIns="0" rIns="0" bIns="0" rtlCol="0" anchor="ctr"/>
          <a:lstStyle/>
          <a:p>
            <a:pPr indent="0" marL="0">
              <a:buNone/>
            </a:pPr>
            <a:r>
              <a:rPr lang="en-US" sz="1600" b="1" spc="400" kern="0" dirty="0">
                <a:solidFill>
                  <a:srgbClr val="2AC9B8"/>
                </a:solidFill>
                <a:latin typeface="Trebuchet MS" pitchFamily="34" charset="0"/>
                <a:ea typeface="Trebuchet MS" pitchFamily="34" charset="-122"/>
                <a:cs typeface="Trebuchet MS" pitchFamily="34" charset="-120"/>
              </a:rPr>
              <a:t>M</a:t>
            </a:r>
            <a:pPr indent="0" marL="0">
              <a:buNone/>
            </a:pPr>
            <a:r>
              <a:rPr lang="en-US" sz="1600" b="1" spc="400" kern="0" dirty="0">
                <a:solidFill>
                  <a:srgbClr val="2AC9B8"/>
                </a:solidFill>
                <a:latin typeface="Trebuchet MS" pitchFamily="34" charset="0"/>
                <a:ea typeface="Trebuchet MS" pitchFamily="34" charset="-122"/>
                <a:cs typeface="Trebuchet MS" pitchFamily="34" charset="-120"/>
              </a:rPr>
              <a:t>O</a:t>
            </a:r>
            <a:pPr indent="0" marL="0">
              <a:buNone/>
            </a:pPr>
            <a:r>
              <a:rPr lang="en-US" sz="1600" b="1" spc="400" kern="0" dirty="0">
                <a:solidFill>
                  <a:srgbClr val="E8663A"/>
                </a:solidFill>
                <a:latin typeface="Trebuchet MS" pitchFamily="34" charset="0"/>
                <a:ea typeface="Trebuchet MS" pitchFamily="34" charset="-122"/>
                <a:cs typeface="Trebuchet MS" pitchFamily="34" charset="-120"/>
              </a:rPr>
              <a:t>T</a:t>
            </a:r>
            <a:pPr indent="0" marL="0">
              <a:buNone/>
            </a:pPr>
            <a:r>
              <a:rPr lang="en-US" sz="1600" b="1" spc="400" kern="0" dirty="0">
                <a:solidFill>
                  <a:srgbClr val="F0447E"/>
                </a:solidFill>
                <a:latin typeface="Trebuchet MS" pitchFamily="34" charset="0"/>
                <a:ea typeface="Trebuchet MS" pitchFamily="34" charset="-122"/>
                <a:cs typeface="Trebuchet MS" pitchFamily="34" charset="-120"/>
              </a:rPr>
              <a:t>I</a:t>
            </a:r>
            <a:pPr indent="0" marL="0">
              <a:buNone/>
            </a:pPr>
            <a:r>
              <a:rPr lang="en-US" sz="1600" b="1" spc="400" kern="0" dirty="0">
                <a:solidFill>
                  <a:srgbClr val="F0447E"/>
                </a:solidFill>
                <a:latin typeface="Trebuchet MS" pitchFamily="34" charset="0"/>
                <a:ea typeface="Trebuchet MS" pitchFamily="34" charset="-122"/>
                <a:cs typeface="Trebuchet MS" pitchFamily="34" charset="-120"/>
              </a:rPr>
              <a:t>F</a:t>
            </a:r>
            <a:endParaRPr lang="en-US" sz="1600" dirty="0"/>
          </a:p>
        </p:txBody>
      </p:sp>
      <p:sp>
        <p:nvSpPr>
          <p:cNvPr id="3" name="Text 1"/>
          <p:cNvSpPr/>
          <p:nvPr/>
        </p:nvSpPr>
        <p:spPr>
          <a:xfrm>
            <a:off x="548640" y="868680"/>
            <a:ext cx="9601200" cy="822960"/>
          </a:xfrm>
          <a:prstGeom prst="rect">
            <a:avLst/>
          </a:prstGeom>
          <a:noFill/>
          <a:ln/>
        </p:spPr>
        <p:txBody>
          <a:bodyPr wrap="square" lIns="0" tIns="0" rIns="0" bIns="0" rtlCol="0" anchor="ctr"/>
          <a:lstStyle/>
          <a:p>
            <a:pPr indent="0" marL="0">
              <a:buNone/>
            </a:pPr>
            <a:r>
              <a:rPr lang="en-US" sz="3400" b="1" dirty="0">
                <a:solidFill>
                  <a:srgbClr val="F5F0E6"/>
                </a:solidFill>
                <a:latin typeface="Trebuchet MS" pitchFamily="34" charset="0"/>
                <a:ea typeface="Trebuchet MS" pitchFamily="34" charset="-122"/>
                <a:cs typeface="Trebuchet MS" pitchFamily="34" charset="-120"/>
              </a:rPr>
              <a:t>Our team &amp; combined strengths</a:t>
            </a:r>
            <a:endParaRPr lang="en-US" sz="3400" dirty="0"/>
          </a:p>
        </p:txBody>
      </p:sp>
      <p:sp>
        <p:nvSpPr>
          <p:cNvPr id="4" name="Text 2"/>
          <p:cNvSpPr/>
          <p:nvPr/>
        </p:nvSpPr>
        <p:spPr>
          <a:xfrm>
            <a:off x="548640" y="1572768"/>
            <a:ext cx="9875520" cy="365760"/>
          </a:xfrm>
          <a:prstGeom prst="rect">
            <a:avLst/>
          </a:prstGeom>
          <a:noFill/>
          <a:ln/>
        </p:spPr>
        <p:txBody>
          <a:bodyPr wrap="square" lIns="0" tIns="0" rIns="0" bIns="0" rtlCol="0" anchor="ctr"/>
          <a:lstStyle/>
          <a:p>
            <a:pPr indent="0" marL="0">
              <a:buNone/>
            </a:pPr>
            <a:r>
              <a:rPr lang="en-US" sz="1250" i="1" dirty="0">
                <a:solidFill>
                  <a:srgbClr val="8A93A6"/>
                </a:solidFill>
                <a:latin typeface="Verdana" pitchFamily="34" charset="0"/>
                <a:ea typeface="Verdana" pitchFamily="34" charset="-122"/>
                <a:cs typeface="Verdana" pitchFamily="34" charset="-120"/>
              </a:rPr>
              <a:t>Mixed-methods research, interaction design, prototyping, and cultural domain knowledge — assigned across strengths, not to them.</a:t>
            </a:r>
            <a:endParaRPr lang="en-US" sz="1250" dirty="0"/>
          </a:p>
        </p:txBody>
      </p:sp>
      <p:sp>
        <p:nvSpPr>
          <p:cNvPr id="5" name="Shape 3"/>
          <p:cNvSpPr/>
          <p:nvPr/>
        </p:nvSpPr>
        <p:spPr>
          <a:xfrm>
            <a:off x="548640" y="2286000"/>
            <a:ext cx="2514600" cy="3291840"/>
          </a:xfrm>
          <a:prstGeom prst="roundRect">
            <a:avLst>
              <a:gd name="adj" fmla="val 5091"/>
            </a:avLst>
          </a:prstGeom>
          <a:solidFill>
            <a:srgbClr val="1B2130"/>
          </a:solidFill>
          <a:ln w="12700">
            <a:solidFill>
              <a:srgbClr val="2AC9B8"/>
            </a:solidFill>
            <a:prstDash val="solid"/>
          </a:ln>
        </p:spPr>
        <p:txBody>
          <a:bodyPr/>
          <a:p/>
        </p:txBody>
      </p:sp>
      <p:sp>
        <p:nvSpPr>
          <p:cNvPr id="6" name="Shape 4"/>
          <p:cNvSpPr/>
          <p:nvPr/>
        </p:nvSpPr>
        <p:spPr>
          <a:xfrm>
            <a:off x="1440180" y="2606040"/>
            <a:ext cx="731520" cy="731520"/>
          </a:xfrm>
          <a:prstGeom prst="ellipse">
            <a:avLst/>
          </a:prstGeom>
          <a:solidFill>
            <a:srgbClr val="0D1117"/>
          </a:solidFill>
          <a:ln w="19050">
            <a:solidFill>
              <a:srgbClr val="2AC9B8"/>
            </a:solidFill>
            <a:prstDash val="solid"/>
          </a:ln>
        </p:spPr>
        <p:txBody>
          <a:bodyPr/>
          <a:p/>
        </p:txBody>
      </p:sp>
      <p:sp>
        <p:nvSpPr>
          <p:cNvPr id="7" name="Text 5"/>
          <p:cNvSpPr/>
          <p:nvPr/>
        </p:nvSpPr>
        <p:spPr>
          <a:xfrm>
            <a:off x="1440180" y="2606040"/>
            <a:ext cx="731520" cy="731520"/>
          </a:xfrm>
          <a:prstGeom prst="rect">
            <a:avLst/>
          </a:prstGeom>
          <a:noFill/>
          <a:ln/>
        </p:spPr>
        <p:txBody>
          <a:bodyPr wrap="square" lIns="0" tIns="0" rIns="0" bIns="0" rtlCol="0" anchor="ctr"/>
          <a:lstStyle/>
          <a:p>
            <a:pPr algn="ctr" indent="0" marL="0">
              <a:buNone/>
            </a:pPr>
            <a:r>
              <a:rPr lang="en-US" sz="2600" b="1" dirty="0">
                <a:solidFill>
                  <a:srgbClr val="2AC9B8"/>
                </a:solidFill>
                <a:latin typeface="Trebuchet MS" pitchFamily="34" charset="0"/>
                <a:ea typeface="Trebuchet MS" pitchFamily="34" charset="-122"/>
                <a:cs typeface="Trebuchet MS" pitchFamily="34" charset="-120"/>
              </a:rPr>
              <a:t>D</a:t>
            </a:r>
            <a:endParaRPr lang="en-US" sz="2600" dirty="0"/>
          </a:p>
        </p:txBody>
      </p:sp>
      <p:sp>
        <p:nvSpPr>
          <p:cNvPr id="8" name="Text 6"/>
          <p:cNvSpPr/>
          <p:nvPr/>
        </p:nvSpPr>
        <p:spPr>
          <a:xfrm>
            <a:off x="685800" y="3474720"/>
            <a:ext cx="2240280" cy="365760"/>
          </a:xfrm>
          <a:prstGeom prst="rect">
            <a:avLst/>
          </a:prstGeom>
          <a:noFill/>
          <a:ln/>
        </p:spPr>
        <p:txBody>
          <a:bodyPr wrap="square" lIns="0" tIns="0" rIns="0" bIns="0" rtlCol="0" anchor="ctr"/>
          <a:lstStyle/>
          <a:p>
            <a:pPr algn="ctr" indent="0" marL="0">
              <a:buNone/>
            </a:pPr>
            <a:r>
              <a:rPr lang="en-US" sz="1700" b="1" dirty="0">
                <a:solidFill>
                  <a:srgbClr val="F5F0E6"/>
                </a:solidFill>
                <a:latin typeface="Trebuchet MS" pitchFamily="34" charset="0"/>
                <a:ea typeface="Trebuchet MS" pitchFamily="34" charset="-122"/>
                <a:cs typeface="Trebuchet MS" pitchFamily="34" charset="-120"/>
              </a:rPr>
              <a:t>Dylan</a:t>
            </a:r>
            <a:endParaRPr lang="en-US" sz="1700" dirty="0"/>
          </a:p>
        </p:txBody>
      </p:sp>
      <p:sp>
        <p:nvSpPr>
          <p:cNvPr id="9" name="Text 7"/>
          <p:cNvSpPr/>
          <p:nvPr/>
        </p:nvSpPr>
        <p:spPr>
          <a:xfrm>
            <a:off x="685800" y="3858768"/>
            <a:ext cx="2240280" cy="320040"/>
          </a:xfrm>
          <a:prstGeom prst="rect">
            <a:avLst/>
          </a:prstGeom>
          <a:noFill/>
          <a:ln/>
        </p:spPr>
        <p:txBody>
          <a:bodyPr wrap="square" lIns="0" tIns="0" rIns="0" bIns="0" rtlCol="0" anchor="ctr"/>
          <a:lstStyle/>
          <a:p>
            <a:pPr algn="ctr" indent="0" marL="0">
              <a:buNone/>
            </a:pPr>
            <a:r>
              <a:rPr lang="en-US" sz="950" b="1" spc="50" kern="0" dirty="0">
                <a:solidFill>
                  <a:srgbClr val="2AC9B8"/>
                </a:solidFill>
                <a:latin typeface="Verdana" pitchFamily="34" charset="0"/>
                <a:ea typeface="Verdana" pitchFamily="34" charset="-122"/>
                <a:cs typeface="Verdana" pitchFamily="34" charset="-120"/>
              </a:rPr>
              <a:t>RESEARCH SYNTHESIS &amp; DOCS</a:t>
            </a:r>
            <a:endParaRPr lang="en-US" sz="950" dirty="0"/>
          </a:p>
        </p:txBody>
      </p:sp>
      <p:sp>
        <p:nvSpPr>
          <p:cNvPr id="10" name="Text 8"/>
          <p:cNvSpPr/>
          <p:nvPr/>
        </p:nvSpPr>
        <p:spPr>
          <a:xfrm>
            <a:off x="731520" y="4251960"/>
            <a:ext cx="2148840" cy="1097280"/>
          </a:xfrm>
          <a:prstGeom prst="rect">
            <a:avLst/>
          </a:prstGeom>
          <a:noFill/>
          <a:ln/>
        </p:spPr>
        <p:txBody>
          <a:bodyPr wrap="square" lIns="0" tIns="0" rIns="0" bIns="0" rtlCol="0" anchor="ctr"/>
          <a:lstStyle/>
          <a:p>
            <a:pPr algn="ctr" indent="0" marL="0">
              <a:buNone/>
            </a:pPr>
            <a:r>
              <a:rPr lang="en-US" sz="1000" dirty="0">
                <a:solidFill>
                  <a:srgbClr val="8A93A6"/>
                </a:solidFill>
                <a:latin typeface="Verdana" pitchFamily="34" charset="0"/>
                <a:ea typeface="Verdana" pitchFamily="34" charset="-122"/>
                <a:cs typeface="Verdana" pitchFamily="34" charset="-120"/>
              </a:rPr>
              <a:t>Leads interview synthesis, team charter, interaction design direction.</a:t>
            </a:r>
            <a:endParaRPr lang="en-US" sz="1000" dirty="0"/>
          </a:p>
        </p:txBody>
      </p:sp>
      <p:sp>
        <p:nvSpPr>
          <p:cNvPr id="11" name="Shape 9"/>
          <p:cNvSpPr/>
          <p:nvPr/>
        </p:nvSpPr>
        <p:spPr>
          <a:xfrm>
            <a:off x="3337560" y="2286000"/>
            <a:ext cx="2514600" cy="3291840"/>
          </a:xfrm>
          <a:prstGeom prst="roundRect">
            <a:avLst>
              <a:gd name="adj" fmla="val 5091"/>
            </a:avLst>
          </a:prstGeom>
          <a:solidFill>
            <a:srgbClr val="1B2130"/>
          </a:solidFill>
          <a:ln w="12700">
            <a:solidFill>
              <a:srgbClr val="E8663A"/>
            </a:solidFill>
            <a:prstDash val="solid"/>
          </a:ln>
        </p:spPr>
        <p:txBody>
          <a:bodyPr/>
          <a:p/>
        </p:txBody>
      </p:sp>
      <p:sp>
        <p:nvSpPr>
          <p:cNvPr id="12" name="Shape 10"/>
          <p:cNvSpPr/>
          <p:nvPr/>
        </p:nvSpPr>
        <p:spPr>
          <a:xfrm>
            <a:off x="4229100" y="2606040"/>
            <a:ext cx="731520" cy="731520"/>
          </a:xfrm>
          <a:prstGeom prst="ellipse">
            <a:avLst/>
          </a:prstGeom>
          <a:solidFill>
            <a:srgbClr val="0D1117"/>
          </a:solidFill>
          <a:ln w="19050">
            <a:solidFill>
              <a:srgbClr val="E8663A"/>
            </a:solidFill>
            <a:prstDash val="solid"/>
          </a:ln>
        </p:spPr>
        <p:txBody>
          <a:bodyPr/>
          <a:p/>
        </p:txBody>
      </p:sp>
      <p:sp>
        <p:nvSpPr>
          <p:cNvPr id="13" name="Text 11"/>
          <p:cNvSpPr/>
          <p:nvPr/>
        </p:nvSpPr>
        <p:spPr>
          <a:xfrm>
            <a:off x="4229100" y="2606040"/>
            <a:ext cx="731520" cy="731520"/>
          </a:xfrm>
          <a:prstGeom prst="rect">
            <a:avLst/>
          </a:prstGeom>
          <a:noFill/>
          <a:ln/>
        </p:spPr>
        <p:txBody>
          <a:bodyPr wrap="square" lIns="0" tIns="0" rIns="0" bIns="0" rtlCol="0" anchor="ctr"/>
          <a:lstStyle/>
          <a:p>
            <a:pPr algn="ctr" indent="0" marL="0">
              <a:buNone/>
            </a:pPr>
            <a:r>
              <a:rPr lang="en-US" sz="2600" b="1" dirty="0">
                <a:solidFill>
                  <a:srgbClr val="E8663A"/>
                </a:solidFill>
                <a:latin typeface="Trebuchet MS" pitchFamily="34" charset="0"/>
                <a:ea typeface="Trebuchet MS" pitchFamily="34" charset="-122"/>
                <a:cs typeface="Trebuchet MS" pitchFamily="34" charset="-120"/>
              </a:rPr>
              <a:t>P</a:t>
            </a:r>
            <a:endParaRPr lang="en-US" sz="2600" dirty="0"/>
          </a:p>
        </p:txBody>
      </p:sp>
      <p:sp>
        <p:nvSpPr>
          <p:cNvPr id="14" name="Text 12"/>
          <p:cNvSpPr/>
          <p:nvPr/>
        </p:nvSpPr>
        <p:spPr>
          <a:xfrm>
            <a:off x="3474720" y="3474720"/>
            <a:ext cx="2240280" cy="365760"/>
          </a:xfrm>
          <a:prstGeom prst="rect">
            <a:avLst/>
          </a:prstGeom>
          <a:noFill/>
          <a:ln/>
        </p:spPr>
        <p:txBody>
          <a:bodyPr wrap="square" lIns="0" tIns="0" rIns="0" bIns="0" rtlCol="0" anchor="ctr"/>
          <a:lstStyle/>
          <a:p>
            <a:pPr algn="ctr" indent="0" marL="0">
              <a:buNone/>
            </a:pPr>
            <a:r>
              <a:rPr lang="en-US" sz="1700" b="1" dirty="0">
                <a:solidFill>
                  <a:srgbClr val="F5F0E6"/>
                </a:solidFill>
                <a:latin typeface="Trebuchet MS" pitchFamily="34" charset="0"/>
                <a:ea typeface="Trebuchet MS" pitchFamily="34" charset="-122"/>
                <a:cs typeface="Trebuchet MS" pitchFamily="34" charset="-120"/>
              </a:rPr>
              <a:t>Pranav</a:t>
            </a:r>
            <a:endParaRPr lang="en-US" sz="1700" dirty="0"/>
          </a:p>
        </p:txBody>
      </p:sp>
      <p:sp>
        <p:nvSpPr>
          <p:cNvPr id="15" name="Text 13"/>
          <p:cNvSpPr/>
          <p:nvPr/>
        </p:nvSpPr>
        <p:spPr>
          <a:xfrm>
            <a:off x="3474720" y="3858768"/>
            <a:ext cx="2240280" cy="320040"/>
          </a:xfrm>
          <a:prstGeom prst="rect">
            <a:avLst/>
          </a:prstGeom>
          <a:noFill/>
          <a:ln/>
        </p:spPr>
        <p:txBody>
          <a:bodyPr wrap="square" lIns="0" tIns="0" rIns="0" bIns="0" rtlCol="0" anchor="ctr"/>
          <a:lstStyle/>
          <a:p>
            <a:pPr algn="ctr" indent="0" marL="0">
              <a:buNone/>
            </a:pPr>
            <a:r>
              <a:rPr lang="en-US" sz="950" b="1" spc="50" kern="0" dirty="0">
                <a:solidFill>
                  <a:srgbClr val="E8663A"/>
                </a:solidFill>
                <a:latin typeface="Verdana" pitchFamily="34" charset="0"/>
                <a:ea typeface="Verdana" pitchFamily="34" charset="-122"/>
                <a:cs typeface="Verdana" pitchFamily="34" charset="-120"/>
              </a:rPr>
              <a:t>CONTENT &amp; AUDIENCE RESEARCH</a:t>
            </a:r>
            <a:endParaRPr lang="en-US" sz="950" dirty="0"/>
          </a:p>
        </p:txBody>
      </p:sp>
      <p:sp>
        <p:nvSpPr>
          <p:cNvPr id="16" name="Text 14"/>
          <p:cNvSpPr/>
          <p:nvPr/>
        </p:nvSpPr>
        <p:spPr>
          <a:xfrm>
            <a:off x="3520440" y="4251960"/>
            <a:ext cx="2148840" cy="1097280"/>
          </a:xfrm>
          <a:prstGeom prst="rect">
            <a:avLst/>
          </a:prstGeom>
          <a:noFill/>
          <a:ln/>
        </p:spPr>
        <p:txBody>
          <a:bodyPr wrap="square" lIns="0" tIns="0" rIns="0" bIns="0" rtlCol="0" anchor="ctr"/>
          <a:lstStyle/>
          <a:p>
            <a:pPr algn="ctr" indent="0" marL="0">
              <a:buNone/>
            </a:pPr>
            <a:r>
              <a:rPr lang="en-US" sz="1000" dirty="0">
                <a:solidFill>
                  <a:srgbClr val="8A93A6"/>
                </a:solidFill>
                <a:latin typeface="Verdana" pitchFamily="34" charset="0"/>
                <a:ea typeface="Verdana" pitchFamily="34" charset="-122"/>
                <a:cs typeface="Verdana" pitchFamily="34" charset="-120"/>
              </a:rPr>
              <a:t>Recruits participants, drives audience research and demo content.</a:t>
            </a:r>
            <a:endParaRPr lang="en-US" sz="1000" dirty="0"/>
          </a:p>
        </p:txBody>
      </p:sp>
      <p:sp>
        <p:nvSpPr>
          <p:cNvPr id="17" name="Shape 15"/>
          <p:cNvSpPr/>
          <p:nvPr/>
        </p:nvSpPr>
        <p:spPr>
          <a:xfrm>
            <a:off x="6126480" y="2286000"/>
            <a:ext cx="2514600" cy="3291840"/>
          </a:xfrm>
          <a:prstGeom prst="roundRect">
            <a:avLst>
              <a:gd name="adj" fmla="val 5091"/>
            </a:avLst>
          </a:prstGeom>
          <a:solidFill>
            <a:srgbClr val="1B2130"/>
          </a:solidFill>
          <a:ln w="12700">
            <a:solidFill>
              <a:srgbClr val="F0447E"/>
            </a:solidFill>
            <a:prstDash val="solid"/>
          </a:ln>
        </p:spPr>
        <p:txBody>
          <a:bodyPr/>
          <a:p/>
        </p:txBody>
      </p:sp>
      <p:sp>
        <p:nvSpPr>
          <p:cNvPr id="18" name="Shape 16"/>
          <p:cNvSpPr/>
          <p:nvPr/>
        </p:nvSpPr>
        <p:spPr>
          <a:xfrm>
            <a:off x="7018020" y="2606040"/>
            <a:ext cx="731520" cy="731520"/>
          </a:xfrm>
          <a:prstGeom prst="ellipse">
            <a:avLst/>
          </a:prstGeom>
          <a:solidFill>
            <a:srgbClr val="0D1117"/>
          </a:solidFill>
          <a:ln w="19050">
            <a:solidFill>
              <a:srgbClr val="F0447E"/>
            </a:solidFill>
            <a:prstDash val="solid"/>
          </a:ln>
        </p:spPr>
        <p:txBody>
          <a:bodyPr/>
          <a:p/>
        </p:txBody>
      </p:sp>
      <p:sp>
        <p:nvSpPr>
          <p:cNvPr id="19" name="Text 17"/>
          <p:cNvSpPr/>
          <p:nvPr/>
        </p:nvSpPr>
        <p:spPr>
          <a:xfrm>
            <a:off x="7018020" y="2606040"/>
            <a:ext cx="731520" cy="731520"/>
          </a:xfrm>
          <a:prstGeom prst="rect">
            <a:avLst/>
          </a:prstGeom>
          <a:noFill/>
          <a:ln/>
        </p:spPr>
        <p:txBody>
          <a:bodyPr wrap="square" lIns="0" tIns="0" rIns="0" bIns="0" rtlCol="0" anchor="ctr"/>
          <a:lstStyle/>
          <a:p>
            <a:pPr algn="ctr" indent="0" marL="0">
              <a:buNone/>
            </a:pPr>
            <a:r>
              <a:rPr lang="en-US" sz="2600" b="1" dirty="0">
                <a:solidFill>
                  <a:srgbClr val="F0447E"/>
                </a:solidFill>
                <a:latin typeface="Trebuchet MS" pitchFamily="34" charset="0"/>
                <a:ea typeface="Trebuchet MS" pitchFamily="34" charset="-122"/>
                <a:cs typeface="Trebuchet MS" pitchFamily="34" charset="-120"/>
              </a:rPr>
              <a:t>M</a:t>
            </a:r>
            <a:endParaRPr lang="en-US" sz="2600" dirty="0"/>
          </a:p>
        </p:txBody>
      </p:sp>
      <p:sp>
        <p:nvSpPr>
          <p:cNvPr id="20" name="Text 18"/>
          <p:cNvSpPr/>
          <p:nvPr/>
        </p:nvSpPr>
        <p:spPr>
          <a:xfrm>
            <a:off x="6263640" y="3474720"/>
            <a:ext cx="2240280" cy="365760"/>
          </a:xfrm>
          <a:prstGeom prst="rect">
            <a:avLst/>
          </a:prstGeom>
          <a:noFill/>
          <a:ln/>
        </p:spPr>
        <p:txBody>
          <a:bodyPr wrap="square" lIns="0" tIns="0" rIns="0" bIns="0" rtlCol="0" anchor="ctr"/>
          <a:lstStyle/>
          <a:p>
            <a:pPr algn="ctr" indent="0" marL="0">
              <a:buNone/>
            </a:pPr>
            <a:r>
              <a:rPr lang="en-US" sz="1700" b="1" dirty="0">
                <a:solidFill>
                  <a:srgbClr val="F5F0E6"/>
                </a:solidFill>
                <a:latin typeface="Trebuchet MS" pitchFamily="34" charset="0"/>
                <a:ea typeface="Trebuchet MS" pitchFamily="34" charset="-122"/>
                <a:cs typeface="Trebuchet MS" pitchFamily="34" charset="-120"/>
              </a:rPr>
              <a:t>Shaz</a:t>
            </a:r>
            <a:endParaRPr lang="en-US" sz="1700" dirty="0"/>
          </a:p>
        </p:txBody>
      </p:sp>
      <p:sp>
        <p:nvSpPr>
          <p:cNvPr id="21" name="Text 19"/>
          <p:cNvSpPr/>
          <p:nvPr/>
        </p:nvSpPr>
        <p:spPr>
          <a:xfrm>
            <a:off x="6263640" y="3858768"/>
            <a:ext cx="2240280" cy="320040"/>
          </a:xfrm>
          <a:prstGeom prst="rect">
            <a:avLst/>
          </a:prstGeom>
          <a:noFill/>
          <a:ln/>
        </p:spPr>
        <p:txBody>
          <a:bodyPr wrap="square" lIns="0" tIns="0" rIns="0" bIns="0" rtlCol="0" anchor="ctr"/>
          <a:lstStyle/>
          <a:p>
            <a:pPr algn="ctr" indent="0" marL="0">
              <a:buNone/>
            </a:pPr>
            <a:r>
              <a:rPr lang="en-US" sz="950" b="1" spc="50" kern="0" dirty="0">
                <a:solidFill>
                  <a:srgbClr val="F0447E"/>
                </a:solidFill>
                <a:latin typeface="Verdana" pitchFamily="34" charset="0"/>
                <a:ea typeface="Verdana" pitchFamily="34" charset="-122"/>
                <a:cs typeface="Verdana" pitchFamily="34" charset="-120"/>
              </a:rPr>
              <a:t>TECHNICAL BUILD</a:t>
            </a:r>
            <a:endParaRPr lang="en-US" sz="950" dirty="0"/>
          </a:p>
        </p:txBody>
      </p:sp>
      <p:sp>
        <p:nvSpPr>
          <p:cNvPr id="22" name="Text 20"/>
          <p:cNvSpPr/>
          <p:nvPr/>
        </p:nvSpPr>
        <p:spPr>
          <a:xfrm>
            <a:off x="6309360" y="4251960"/>
            <a:ext cx="2148840" cy="1097280"/>
          </a:xfrm>
          <a:prstGeom prst="rect">
            <a:avLst/>
          </a:prstGeom>
          <a:noFill/>
          <a:ln/>
        </p:spPr>
        <p:txBody>
          <a:bodyPr wrap="square" lIns="0" tIns="0" rIns="0" bIns="0" rtlCol="0" anchor="ctr"/>
          <a:lstStyle/>
          <a:p>
            <a:pPr algn="ctr" indent="0" marL="0">
              <a:buNone/>
            </a:pPr>
            <a:r>
              <a:rPr lang="en-US" sz="1000" dirty="0">
                <a:solidFill>
                  <a:srgbClr val="8A93A6"/>
                </a:solidFill>
                <a:latin typeface="Verdana" pitchFamily="34" charset="0"/>
                <a:ea typeface="Verdana" pitchFamily="34" charset="-122"/>
                <a:cs typeface="Verdana" pitchFamily="34" charset="-120"/>
              </a:rPr>
              <a:t>Owns AR feasibility, prototype architecture, dev synthesis.</a:t>
            </a:r>
            <a:endParaRPr lang="en-US" sz="1000" dirty="0"/>
          </a:p>
        </p:txBody>
      </p:sp>
      <p:sp>
        <p:nvSpPr>
          <p:cNvPr id="23" name="Shape 21"/>
          <p:cNvSpPr/>
          <p:nvPr/>
        </p:nvSpPr>
        <p:spPr>
          <a:xfrm>
            <a:off x="8915400" y="2286000"/>
            <a:ext cx="2514600" cy="3291840"/>
          </a:xfrm>
          <a:prstGeom prst="roundRect">
            <a:avLst>
              <a:gd name="adj" fmla="val 5091"/>
            </a:avLst>
          </a:prstGeom>
          <a:solidFill>
            <a:srgbClr val="1B2130"/>
          </a:solidFill>
          <a:ln w="12700">
            <a:solidFill>
              <a:srgbClr val="2AC9B8"/>
            </a:solidFill>
            <a:prstDash val="solid"/>
          </a:ln>
        </p:spPr>
        <p:txBody>
          <a:bodyPr/>
          <a:p/>
        </p:txBody>
      </p:sp>
      <p:sp>
        <p:nvSpPr>
          <p:cNvPr id="24" name="Shape 22"/>
          <p:cNvSpPr/>
          <p:nvPr/>
        </p:nvSpPr>
        <p:spPr>
          <a:xfrm>
            <a:off x="9806940" y="2606040"/>
            <a:ext cx="731520" cy="731520"/>
          </a:xfrm>
          <a:prstGeom prst="ellipse">
            <a:avLst/>
          </a:prstGeom>
          <a:solidFill>
            <a:srgbClr val="0D1117"/>
          </a:solidFill>
          <a:ln w="19050">
            <a:solidFill>
              <a:srgbClr val="2AC9B8"/>
            </a:solidFill>
            <a:prstDash val="solid"/>
          </a:ln>
        </p:spPr>
        <p:txBody>
          <a:bodyPr/>
          <a:p/>
        </p:txBody>
      </p:sp>
      <p:sp>
        <p:nvSpPr>
          <p:cNvPr id="25" name="Text 23"/>
          <p:cNvSpPr/>
          <p:nvPr/>
        </p:nvSpPr>
        <p:spPr>
          <a:xfrm>
            <a:off x="9806940" y="2606040"/>
            <a:ext cx="731520" cy="731520"/>
          </a:xfrm>
          <a:prstGeom prst="rect">
            <a:avLst/>
          </a:prstGeom>
          <a:noFill/>
          <a:ln/>
        </p:spPr>
        <p:txBody>
          <a:bodyPr wrap="square" lIns="0" tIns="0" rIns="0" bIns="0" rtlCol="0" anchor="ctr"/>
          <a:lstStyle/>
          <a:p>
            <a:pPr algn="ctr" indent="0" marL="0">
              <a:buNone/>
            </a:pPr>
            <a:r>
              <a:rPr lang="en-US" sz="2600" b="1" dirty="0">
                <a:solidFill>
                  <a:srgbClr val="2AC9B8"/>
                </a:solidFill>
                <a:latin typeface="Trebuchet MS" pitchFamily="34" charset="0"/>
                <a:ea typeface="Trebuchet MS" pitchFamily="34" charset="-122"/>
                <a:cs typeface="Trebuchet MS" pitchFamily="34" charset="-120"/>
              </a:rPr>
              <a:t>P</a:t>
            </a:r>
            <a:endParaRPr lang="en-US" sz="2600" dirty="0"/>
          </a:p>
        </p:txBody>
      </p:sp>
      <p:sp>
        <p:nvSpPr>
          <p:cNvPr id="26" name="Text 24"/>
          <p:cNvSpPr/>
          <p:nvPr/>
        </p:nvSpPr>
        <p:spPr>
          <a:xfrm>
            <a:off x="9052560" y="3474720"/>
            <a:ext cx="2240280" cy="365760"/>
          </a:xfrm>
          <a:prstGeom prst="rect">
            <a:avLst/>
          </a:prstGeom>
          <a:noFill/>
          <a:ln/>
        </p:spPr>
        <p:txBody>
          <a:bodyPr wrap="square" lIns="0" tIns="0" rIns="0" bIns="0" rtlCol="0" anchor="ctr"/>
          <a:lstStyle/>
          <a:p>
            <a:pPr algn="ctr" indent="0" marL="0">
              <a:buNone/>
            </a:pPr>
            <a:r>
              <a:rPr lang="en-US" sz="1700" b="1" dirty="0">
                <a:solidFill>
                  <a:srgbClr val="F5F0E6"/>
                </a:solidFill>
                <a:latin typeface="Trebuchet MS" pitchFamily="34" charset="0"/>
                <a:ea typeface="Trebuchet MS" pitchFamily="34" charset="-122"/>
                <a:cs typeface="Trebuchet MS" pitchFamily="34" charset="-120"/>
              </a:rPr>
              <a:t>Paul</a:t>
            </a:r>
            <a:endParaRPr lang="en-US" sz="1700" dirty="0"/>
          </a:p>
        </p:txBody>
      </p:sp>
      <p:sp>
        <p:nvSpPr>
          <p:cNvPr id="27" name="Text 25"/>
          <p:cNvSpPr/>
          <p:nvPr/>
        </p:nvSpPr>
        <p:spPr>
          <a:xfrm>
            <a:off x="9052560" y="3858768"/>
            <a:ext cx="2240280" cy="320040"/>
          </a:xfrm>
          <a:prstGeom prst="rect">
            <a:avLst/>
          </a:prstGeom>
          <a:noFill/>
          <a:ln/>
        </p:spPr>
        <p:txBody>
          <a:bodyPr wrap="square" lIns="0" tIns="0" rIns="0" bIns="0" rtlCol="0" anchor="ctr"/>
          <a:lstStyle/>
          <a:p>
            <a:pPr algn="ctr" indent="0" marL="0">
              <a:buNone/>
            </a:pPr>
            <a:r>
              <a:rPr lang="en-US" sz="950" b="1" spc="50" kern="0" dirty="0">
                <a:solidFill>
                  <a:srgbClr val="2AC9B8"/>
                </a:solidFill>
                <a:latin typeface="Verdana" pitchFamily="34" charset="0"/>
                <a:ea typeface="Verdana" pitchFamily="34" charset="-122"/>
                <a:cs typeface="Verdana" pitchFamily="34" charset="-120"/>
              </a:rPr>
              <a:t>MEDIA &amp; ASSETS</a:t>
            </a:r>
            <a:endParaRPr lang="en-US" sz="950" dirty="0"/>
          </a:p>
        </p:txBody>
      </p:sp>
      <p:sp>
        <p:nvSpPr>
          <p:cNvPr id="28" name="Text 26"/>
          <p:cNvSpPr/>
          <p:nvPr/>
        </p:nvSpPr>
        <p:spPr>
          <a:xfrm>
            <a:off x="9098280" y="4251960"/>
            <a:ext cx="2148840" cy="1097280"/>
          </a:xfrm>
          <a:prstGeom prst="rect">
            <a:avLst/>
          </a:prstGeom>
          <a:noFill/>
          <a:ln/>
        </p:spPr>
        <p:txBody>
          <a:bodyPr wrap="square" lIns="0" tIns="0" rIns="0" bIns="0" rtlCol="0" anchor="ctr"/>
          <a:lstStyle/>
          <a:p>
            <a:pPr algn="ctr" indent="0" marL="0">
              <a:buNone/>
            </a:pPr>
            <a:r>
              <a:rPr lang="en-US" sz="1000" dirty="0">
                <a:solidFill>
                  <a:srgbClr val="8A93A6"/>
                </a:solidFill>
                <a:latin typeface="Verdana" pitchFamily="34" charset="0"/>
                <a:ea typeface="Verdana" pitchFamily="34" charset="-122"/>
                <a:cs typeface="Verdana" pitchFamily="34" charset="-120"/>
              </a:rPr>
              <a:t>Photo/video capture, interview recording, asset gathering.</a:t>
            </a:r>
            <a:endParaRPr lang="en-US" sz="1000" dirty="0"/>
          </a:p>
        </p:txBody>
      </p:sp>
      <p:sp>
        <p:nvSpPr>
          <p:cNvPr id="29" name="Text 27"/>
          <p:cNvSpPr/>
          <p:nvPr/>
        </p:nvSpPr>
        <p:spPr>
          <a:xfrm>
            <a:off x="457200" y="6473952"/>
            <a:ext cx="7315200" cy="274320"/>
          </a:xfrm>
          <a:prstGeom prst="rect">
            <a:avLst/>
          </a:prstGeom>
          <a:noFill/>
          <a:ln/>
        </p:spPr>
        <p:txBody>
          <a:bodyPr wrap="square" lIns="0" tIns="0" rIns="0" bIns="0" rtlCol="0" anchor="ctr"/>
          <a:lstStyle/>
          <a:p>
            <a:pPr indent="0" marL="0">
              <a:buNone/>
            </a:pPr>
            <a:r>
              <a:rPr lang="en-US" sz="900" dirty="0">
                <a:solidFill>
                  <a:srgbClr val="8A93A6"/>
                </a:solidFill>
                <a:latin typeface="Verdana" pitchFamily="34" charset="0"/>
                <a:ea typeface="Verdana" pitchFamily="34" charset="-122"/>
                <a:cs typeface="Verdana" pitchFamily="34" charset="-120"/>
              </a:rPr>
              <a:t>SLIDE 1 — TEAM INTRODUCTION &amp; STRENGTHS</a:t>
            </a:r>
            <a:endParaRPr lang="en-US" sz="900" dirty="0"/>
          </a:p>
        </p:txBody>
      </p:sp>
      <p:sp>
        <p:nvSpPr>
          <p:cNvPr id="30" name="Text 28"/>
          <p:cNvSpPr/>
          <p:nvPr/>
        </p:nvSpPr>
        <p:spPr>
          <a:xfrm>
            <a:off x="8229600" y="6473952"/>
            <a:ext cx="3474720" cy="274320"/>
          </a:xfrm>
          <a:prstGeom prst="rect">
            <a:avLst/>
          </a:prstGeom>
          <a:noFill/>
          <a:ln/>
        </p:spPr>
        <p:txBody>
          <a:bodyPr wrap="square" lIns="0" tIns="0" rIns="0" bIns="0" rtlCol="0" anchor="ctr"/>
          <a:lstStyle/>
          <a:p>
            <a:pPr algn="r" indent="0" marL="0">
              <a:buNone/>
            </a:pPr>
            <a:r>
              <a:rPr lang="en-US" sz="900" spc="100" kern="0" dirty="0">
                <a:solidFill>
                  <a:srgbClr val="8A93A6"/>
                </a:solidFill>
                <a:latin typeface="Verdana" pitchFamily="34" charset="0"/>
                <a:ea typeface="Verdana" pitchFamily="34" charset="-122"/>
                <a:cs typeface="Verdana" pitchFamily="34" charset="-120"/>
              </a:rPr>
              <a:t>TEAM MOTIF · DECO3500</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0E6"/>
        </a:solidFill>
      </p:bgPr>
    </p:bg>
    <p:spTree>
      <p:nvGrpSpPr>
        <p:cNvPr id="1" name=""/>
        <p:cNvGrpSpPr/>
        <p:nvPr/>
      </p:nvGrpSpPr>
      <p:grpSpPr>
        <a:xfrm>
          <a:off x="0" y="0"/>
          <a:ext cx="0" cy="0"/>
          <a:chOff x="0" y="0"/>
          <a:chExt cx="0" cy="0"/>
        </a:xfrm>
      </p:grpSpPr>
      <p:sp>
        <p:nvSpPr>
          <p:cNvPr id="2" name="Text 0"/>
          <p:cNvSpPr/>
          <p:nvPr/>
        </p:nvSpPr>
        <p:spPr>
          <a:xfrm>
            <a:off x="548640" y="411480"/>
            <a:ext cx="9601200" cy="731520"/>
          </a:xfrm>
          <a:prstGeom prst="rect">
            <a:avLst/>
          </a:prstGeom>
          <a:noFill/>
          <a:ln/>
        </p:spPr>
        <p:txBody>
          <a:bodyPr wrap="square" lIns="0" tIns="0" rIns="0" bIns="0" rtlCol="0" anchor="ctr"/>
          <a:lstStyle/>
          <a:p>
            <a:pPr indent="0" marL="0">
              <a:buNone/>
            </a:pPr>
            <a:r>
              <a:rPr lang="en-US" sz="3000" b="1" dirty="0">
                <a:solidFill>
                  <a:srgbClr val="0D1117"/>
                </a:solidFill>
                <a:latin typeface="Trebuchet MS" pitchFamily="34" charset="0"/>
                <a:ea typeface="Trebuchet MS" pitchFamily="34" charset="-122"/>
                <a:cs typeface="Trebuchet MS" pitchFamily="34" charset="-120"/>
              </a:rPr>
              <a:t>Domain &amp; problem space</a:t>
            </a:r>
            <a:endParaRPr lang="en-US" sz="3000" dirty="0"/>
          </a:p>
        </p:txBody>
      </p:sp>
      <p:sp>
        <p:nvSpPr>
          <p:cNvPr id="3" name="Shape 1"/>
          <p:cNvSpPr/>
          <p:nvPr/>
        </p:nvSpPr>
        <p:spPr>
          <a:xfrm>
            <a:off x="548640" y="1097280"/>
            <a:ext cx="5029200" cy="0"/>
          </a:xfrm>
          <a:prstGeom prst="line">
            <a:avLst/>
          </a:prstGeom>
          <a:noFill/>
          <a:ln w="19050">
            <a:solidFill>
              <a:srgbClr val="E8663A"/>
            </a:solidFill>
            <a:prstDash val="solid"/>
          </a:ln>
        </p:spPr>
        <p:txBody>
          <a:bodyPr/>
          <a:p/>
        </p:txBody>
      </p:sp>
      <p:sp>
        <p:nvSpPr>
          <p:cNvPr id="4" name="Text 2"/>
          <p:cNvSpPr/>
          <p:nvPr/>
        </p:nvSpPr>
        <p:spPr>
          <a:xfrm>
            <a:off x="548640" y="1188720"/>
            <a:ext cx="10515600" cy="365760"/>
          </a:xfrm>
          <a:prstGeom prst="rect">
            <a:avLst/>
          </a:prstGeom>
          <a:noFill/>
          <a:ln/>
        </p:spPr>
        <p:txBody>
          <a:bodyPr wrap="square" lIns="0" tIns="0" rIns="0" bIns="0" rtlCol="0" anchor="ctr"/>
          <a:lstStyle/>
          <a:p>
            <a:pPr indent="0" marL="0">
              <a:buNone/>
            </a:pPr>
            <a:r>
              <a:rPr lang="en-US" sz="1300" i="1" dirty="0">
                <a:solidFill>
                  <a:srgbClr val="6B5F52"/>
                </a:solidFill>
                <a:latin typeface="Verdana" pitchFamily="34" charset="0"/>
                <a:ea typeface="Verdana" pitchFamily="34" charset="-122"/>
                <a:cs typeface="Verdana" pitchFamily="34" charset="-120"/>
              </a:rPr>
              <a:t>Cultural taste is one thing. The tools for it are scattered across four separate apps.</a:t>
            </a:r>
            <a:endParaRPr lang="en-US" sz="1300" dirty="0"/>
          </a:p>
        </p:txBody>
      </p:sp>
      <p:sp>
        <p:nvSpPr>
          <p:cNvPr id="5" name="Shape 3"/>
          <p:cNvSpPr/>
          <p:nvPr/>
        </p:nvSpPr>
        <p:spPr>
          <a:xfrm>
            <a:off x="548640" y="1691640"/>
            <a:ext cx="3383280" cy="1371600"/>
          </a:xfrm>
          <a:prstGeom prst="roundRect">
            <a:avLst>
              <a:gd name="adj" fmla="val 6667"/>
            </a:avLst>
          </a:prstGeom>
          <a:solidFill>
            <a:srgbClr val="0D1117"/>
          </a:solidFill>
          <a:ln w="9525">
            <a:solidFill>
              <a:srgbClr val="2AC9B8"/>
            </a:solidFill>
            <a:prstDash val="solid"/>
          </a:ln>
        </p:spPr>
        <p:txBody>
          <a:bodyPr/>
          <a:p/>
        </p:txBody>
      </p:sp>
      <p:sp>
        <p:nvSpPr>
          <p:cNvPr id="6" name="Text 4"/>
          <p:cNvSpPr/>
          <p:nvPr/>
        </p:nvSpPr>
        <p:spPr>
          <a:xfrm>
            <a:off x="731520" y="1792224"/>
            <a:ext cx="3017520" cy="502920"/>
          </a:xfrm>
          <a:prstGeom prst="rect">
            <a:avLst/>
          </a:prstGeom>
          <a:noFill/>
          <a:ln/>
        </p:spPr>
        <p:txBody>
          <a:bodyPr wrap="square" lIns="0" tIns="0" rIns="0" bIns="0" rtlCol="0" anchor="ctr"/>
          <a:lstStyle/>
          <a:p>
            <a:pPr indent="0" marL="0">
              <a:buNone/>
            </a:pPr>
            <a:r>
              <a:rPr lang="en-US" sz="2400" b="1" dirty="0">
                <a:solidFill>
                  <a:srgbClr val="2AC9B8"/>
                </a:solidFill>
                <a:latin typeface="Trebuchet MS" pitchFamily="34" charset="0"/>
                <a:ea typeface="Trebuchet MS" pitchFamily="34" charset="-122"/>
                <a:cs typeface="Trebuchet MS" pitchFamily="34" charset="-120"/>
              </a:rPr>
              <a:t>20.7 hrs</a:t>
            </a:r>
            <a:endParaRPr lang="en-US" sz="2400" dirty="0"/>
          </a:p>
        </p:txBody>
      </p:sp>
      <p:sp>
        <p:nvSpPr>
          <p:cNvPr id="7" name="Text 5"/>
          <p:cNvSpPr/>
          <p:nvPr/>
        </p:nvSpPr>
        <p:spPr>
          <a:xfrm>
            <a:off x="731520" y="2304288"/>
            <a:ext cx="3017520" cy="274320"/>
          </a:xfrm>
          <a:prstGeom prst="rect">
            <a:avLst/>
          </a:prstGeom>
          <a:noFill/>
          <a:ln/>
        </p:spPr>
        <p:txBody>
          <a:bodyPr wrap="square" lIns="0" tIns="0" rIns="0" bIns="0" rtlCol="0" anchor="ctr"/>
          <a:lstStyle/>
          <a:p>
            <a:pPr indent="0" marL="0">
              <a:buNone/>
            </a:pPr>
            <a:r>
              <a:rPr lang="en-US" sz="1000" b="1" spc="50" kern="0" dirty="0">
                <a:solidFill>
                  <a:srgbClr val="F5F0E6"/>
                </a:solidFill>
                <a:latin typeface="Verdana" pitchFamily="34" charset="0"/>
                <a:ea typeface="Verdana" pitchFamily="34" charset="-122"/>
                <a:cs typeface="Verdana" pitchFamily="34" charset="-120"/>
              </a:rPr>
              <a:t>AVG WEEKLY MUSIC</a:t>
            </a:r>
            <a:endParaRPr lang="en-US" sz="1000" dirty="0"/>
          </a:p>
        </p:txBody>
      </p:sp>
      <p:sp>
        <p:nvSpPr>
          <p:cNvPr id="8" name="Text 6"/>
          <p:cNvSpPr/>
          <p:nvPr/>
        </p:nvSpPr>
        <p:spPr>
          <a:xfrm>
            <a:off x="731520" y="2542032"/>
            <a:ext cx="3017520" cy="457200"/>
          </a:xfrm>
          <a:prstGeom prst="rect">
            <a:avLst/>
          </a:prstGeom>
          <a:noFill/>
          <a:ln/>
        </p:spPr>
        <p:txBody>
          <a:bodyPr wrap="square" lIns="0" tIns="0" rIns="0" bIns="0" rtlCol="0" anchor="ctr"/>
          <a:lstStyle/>
          <a:p>
            <a:pPr indent="0" marL="0">
              <a:buNone/>
            </a:pPr>
            <a:r>
              <a:rPr lang="en-US" sz="950" dirty="0">
                <a:solidFill>
                  <a:srgbClr val="8A93A6"/>
                </a:solidFill>
                <a:latin typeface="Verdana" pitchFamily="34" charset="0"/>
                <a:ea typeface="Verdana" pitchFamily="34" charset="-122"/>
                <a:cs typeface="Verdana" pitchFamily="34" charset="-120"/>
              </a:rPr>
              <a:t>listening per person, globally</a:t>
            </a:r>
            <a:endParaRPr lang="en-US" sz="950" dirty="0"/>
          </a:p>
        </p:txBody>
      </p:sp>
      <p:sp>
        <p:nvSpPr>
          <p:cNvPr id="9" name="Shape 7"/>
          <p:cNvSpPr/>
          <p:nvPr/>
        </p:nvSpPr>
        <p:spPr>
          <a:xfrm>
            <a:off x="4160520" y="1691640"/>
            <a:ext cx="3383280" cy="1371600"/>
          </a:xfrm>
          <a:prstGeom prst="roundRect">
            <a:avLst>
              <a:gd name="adj" fmla="val 6667"/>
            </a:avLst>
          </a:prstGeom>
          <a:solidFill>
            <a:srgbClr val="0D1117"/>
          </a:solidFill>
          <a:ln w="9525">
            <a:solidFill>
              <a:srgbClr val="E8663A"/>
            </a:solidFill>
            <a:prstDash val="solid"/>
          </a:ln>
        </p:spPr>
        <p:txBody>
          <a:bodyPr/>
          <a:p/>
        </p:txBody>
      </p:sp>
      <p:sp>
        <p:nvSpPr>
          <p:cNvPr id="10" name="Text 8"/>
          <p:cNvSpPr/>
          <p:nvPr/>
        </p:nvSpPr>
        <p:spPr>
          <a:xfrm>
            <a:off x="4343400" y="1792224"/>
            <a:ext cx="3017520" cy="502920"/>
          </a:xfrm>
          <a:prstGeom prst="rect">
            <a:avLst/>
          </a:prstGeom>
          <a:noFill/>
          <a:ln/>
        </p:spPr>
        <p:txBody>
          <a:bodyPr wrap="square" lIns="0" tIns="0" rIns="0" bIns="0" rtlCol="0" anchor="ctr"/>
          <a:lstStyle/>
          <a:p>
            <a:pPr indent="0" marL="0">
              <a:buNone/>
            </a:pPr>
            <a:r>
              <a:rPr lang="en-US" sz="2400" b="1" dirty="0">
                <a:solidFill>
                  <a:srgbClr val="E8663A"/>
                </a:solidFill>
                <a:latin typeface="Trebuchet MS" pitchFamily="34" charset="0"/>
                <a:ea typeface="Trebuchet MS" pitchFamily="34" charset="-122"/>
                <a:cs typeface="Trebuchet MS" pitchFamily="34" charset="-120"/>
              </a:rPr>
              <a:t>44%</a:t>
            </a:r>
            <a:endParaRPr lang="en-US" sz="2400" dirty="0"/>
          </a:p>
        </p:txBody>
      </p:sp>
      <p:sp>
        <p:nvSpPr>
          <p:cNvPr id="11" name="Text 9"/>
          <p:cNvSpPr/>
          <p:nvPr/>
        </p:nvSpPr>
        <p:spPr>
          <a:xfrm>
            <a:off x="4343400" y="2304288"/>
            <a:ext cx="3017520" cy="274320"/>
          </a:xfrm>
          <a:prstGeom prst="rect">
            <a:avLst/>
          </a:prstGeom>
          <a:noFill/>
          <a:ln/>
        </p:spPr>
        <p:txBody>
          <a:bodyPr wrap="square" lIns="0" tIns="0" rIns="0" bIns="0" rtlCol="0" anchor="ctr"/>
          <a:lstStyle/>
          <a:p>
            <a:pPr indent="0" marL="0">
              <a:buNone/>
            </a:pPr>
            <a:r>
              <a:rPr lang="en-US" sz="1000" b="1" spc="50" kern="0" dirty="0">
                <a:solidFill>
                  <a:srgbClr val="F5F0E6"/>
                </a:solidFill>
                <a:latin typeface="Verdana" pitchFamily="34" charset="0"/>
                <a:ea typeface="Verdana" pitchFamily="34" charset="-122"/>
                <a:cs typeface="Verdana" pitchFamily="34" charset="-120"/>
              </a:rPr>
              <a:t>OF SUBSCRIBERS</a:t>
            </a:r>
            <a:endParaRPr lang="en-US" sz="1000" dirty="0"/>
          </a:p>
        </p:txBody>
      </p:sp>
      <p:sp>
        <p:nvSpPr>
          <p:cNvPr id="12" name="Text 10"/>
          <p:cNvSpPr/>
          <p:nvPr/>
        </p:nvSpPr>
        <p:spPr>
          <a:xfrm>
            <a:off x="4343400" y="2542032"/>
            <a:ext cx="3017520" cy="457200"/>
          </a:xfrm>
          <a:prstGeom prst="rect">
            <a:avLst/>
          </a:prstGeom>
          <a:noFill/>
          <a:ln/>
        </p:spPr>
        <p:txBody>
          <a:bodyPr wrap="square" lIns="0" tIns="0" rIns="0" bIns="0" rtlCol="0" anchor="ctr"/>
          <a:lstStyle/>
          <a:p>
            <a:pPr indent="0" marL="0">
              <a:buNone/>
            </a:pPr>
            <a:r>
              <a:rPr lang="en-US" sz="950" dirty="0">
                <a:solidFill>
                  <a:srgbClr val="8A93A6"/>
                </a:solidFill>
                <a:latin typeface="Verdana" pitchFamily="34" charset="0"/>
                <a:ea typeface="Verdana" pitchFamily="34" charset="-122"/>
                <a:cs typeface="Verdana" pitchFamily="34" charset="-120"/>
              </a:rPr>
              <a:t>discover a new artist weekly</a:t>
            </a:r>
            <a:endParaRPr lang="en-US" sz="950" dirty="0"/>
          </a:p>
        </p:txBody>
      </p:sp>
      <p:sp>
        <p:nvSpPr>
          <p:cNvPr id="13" name="Shape 11"/>
          <p:cNvSpPr/>
          <p:nvPr/>
        </p:nvSpPr>
        <p:spPr>
          <a:xfrm>
            <a:off x="7772400" y="1691640"/>
            <a:ext cx="3383280" cy="1371600"/>
          </a:xfrm>
          <a:prstGeom prst="roundRect">
            <a:avLst>
              <a:gd name="adj" fmla="val 6667"/>
            </a:avLst>
          </a:prstGeom>
          <a:solidFill>
            <a:srgbClr val="0D1117"/>
          </a:solidFill>
          <a:ln w="9525">
            <a:solidFill>
              <a:srgbClr val="F0447E"/>
            </a:solidFill>
            <a:prstDash val="solid"/>
          </a:ln>
        </p:spPr>
        <p:txBody>
          <a:bodyPr/>
          <a:p/>
        </p:txBody>
      </p:sp>
      <p:sp>
        <p:nvSpPr>
          <p:cNvPr id="14" name="Text 12"/>
          <p:cNvSpPr/>
          <p:nvPr/>
        </p:nvSpPr>
        <p:spPr>
          <a:xfrm>
            <a:off x="7955280" y="1792224"/>
            <a:ext cx="3017520" cy="502920"/>
          </a:xfrm>
          <a:prstGeom prst="rect">
            <a:avLst/>
          </a:prstGeom>
          <a:noFill/>
          <a:ln/>
        </p:spPr>
        <p:txBody>
          <a:bodyPr wrap="square" lIns="0" tIns="0" rIns="0" bIns="0" rtlCol="0" anchor="ctr"/>
          <a:lstStyle/>
          <a:p>
            <a:pPr indent="0" marL="0">
              <a:buNone/>
            </a:pPr>
            <a:r>
              <a:rPr lang="en-US" sz="2400" b="1" dirty="0">
                <a:solidFill>
                  <a:srgbClr val="F0447E"/>
                </a:solidFill>
                <a:latin typeface="Trebuchet MS" pitchFamily="34" charset="0"/>
                <a:ea typeface="Trebuchet MS" pitchFamily="34" charset="-122"/>
                <a:cs typeface="Trebuchet MS" pitchFamily="34" charset="-120"/>
              </a:rPr>
              <a:t>4%</a:t>
            </a:r>
            <a:endParaRPr lang="en-US" sz="2400" dirty="0"/>
          </a:p>
        </p:txBody>
      </p:sp>
      <p:sp>
        <p:nvSpPr>
          <p:cNvPr id="15" name="Text 13"/>
          <p:cNvSpPr/>
          <p:nvPr/>
        </p:nvSpPr>
        <p:spPr>
          <a:xfrm>
            <a:off x="7955280" y="2304288"/>
            <a:ext cx="3017520" cy="274320"/>
          </a:xfrm>
          <a:prstGeom prst="rect">
            <a:avLst/>
          </a:prstGeom>
          <a:noFill/>
          <a:ln/>
        </p:spPr>
        <p:txBody>
          <a:bodyPr wrap="square" lIns="0" tIns="0" rIns="0" bIns="0" rtlCol="0" anchor="ctr"/>
          <a:lstStyle/>
          <a:p>
            <a:pPr indent="0" marL="0">
              <a:buNone/>
            </a:pPr>
            <a:r>
              <a:rPr lang="en-US" sz="1000" b="1" spc="50" kern="0" dirty="0">
                <a:solidFill>
                  <a:srgbClr val="F5F0E6"/>
                </a:solidFill>
                <a:latin typeface="Verdana" pitchFamily="34" charset="0"/>
                <a:ea typeface="Verdana" pitchFamily="34" charset="-122"/>
                <a:cs typeface="Verdana" pitchFamily="34" charset="-120"/>
              </a:rPr>
              <a:t>OF MUSIC ENGAGEMENT</a:t>
            </a:r>
            <a:endParaRPr lang="en-US" sz="1000" dirty="0"/>
          </a:p>
        </p:txBody>
      </p:sp>
      <p:sp>
        <p:nvSpPr>
          <p:cNvPr id="16" name="Text 14"/>
          <p:cNvSpPr/>
          <p:nvPr/>
        </p:nvSpPr>
        <p:spPr>
          <a:xfrm>
            <a:off x="7955280" y="2542032"/>
            <a:ext cx="3017520" cy="457200"/>
          </a:xfrm>
          <a:prstGeom prst="rect">
            <a:avLst/>
          </a:prstGeom>
          <a:noFill/>
          <a:ln/>
        </p:spPr>
        <p:txBody>
          <a:bodyPr wrap="square" lIns="0" tIns="0" rIns="0" bIns="0" rtlCol="0" anchor="ctr"/>
          <a:lstStyle/>
          <a:p>
            <a:pPr indent="0" marL="0">
              <a:buNone/>
            </a:pPr>
            <a:r>
              <a:rPr lang="en-US" sz="950" dirty="0">
                <a:solidFill>
                  <a:srgbClr val="8A93A6"/>
                </a:solidFill>
                <a:latin typeface="Verdana" pitchFamily="34" charset="0"/>
                <a:ea typeface="Verdana" pitchFamily="34" charset="-122"/>
                <a:cs typeface="Verdana" pitchFamily="34" charset="-120"/>
              </a:rPr>
              <a:t>is live music — smallest slice</a:t>
            </a:r>
            <a:endParaRPr lang="en-US" sz="950" dirty="0"/>
          </a:p>
        </p:txBody>
      </p:sp>
      <p:sp>
        <p:nvSpPr>
          <p:cNvPr id="17" name="Text 15"/>
          <p:cNvSpPr/>
          <p:nvPr/>
        </p:nvSpPr>
        <p:spPr>
          <a:xfrm>
            <a:off x="548640" y="3108960"/>
            <a:ext cx="10058400" cy="274320"/>
          </a:xfrm>
          <a:prstGeom prst="rect">
            <a:avLst/>
          </a:prstGeom>
          <a:noFill/>
          <a:ln/>
        </p:spPr>
        <p:txBody>
          <a:bodyPr wrap="square" lIns="0" tIns="0" rIns="0" bIns="0" rtlCol="0" anchor="ctr"/>
          <a:lstStyle/>
          <a:p>
            <a:pPr indent="0" marL="0">
              <a:buNone/>
            </a:pPr>
            <a:r>
              <a:rPr lang="en-US" sz="850" i="1" dirty="0">
                <a:solidFill>
                  <a:srgbClr val="8A7D6C"/>
                </a:solidFill>
                <a:latin typeface="Verdana" pitchFamily="34" charset="0"/>
                <a:ea typeface="Verdana" pitchFamily="34" charset="-122"/>
                <a:cs typeface="Verdana" pitchFamily="34" charset="-120"/>
              </a:rPr>
              <a:t>Source: IFPI Engaging with Music 2023 (43,000 respondents, 26 countries)</a:t>
            </a:r>
            <a:endParaRPr lang="en-US" sz="850" dirty="0"/>
          </a:p>
        </p:txBody>
      </p:sp>
      <p:sp>
        <p:nvSpPr>
          <p:cNvPr id="18" name="Shape 16"/>
          <p:cNvSpPr/>
          <p:nvPr/>
        </p:nvSpPr>
        <p:spPr>
          <a:xfrm>
            <a:off x="548640" y="3429000"/>
            <a:ext cx="5212080" cy="2697480"/>
          </a:xfrm>
          <a:prstGeom prst="roundRect">
            <a:avLst>
              <a:gd name="adj" fmla="val 4068"/>
            </a:avLst>
          </a:prstGeom>
          <a:solidFill>
            <a:srgbClr val="0D1117"/>
          </a:solidFill>
          <a:ln w="9525">
            <a:solidFill>
              <a:srgbClr val="2AC9B8"/>
            </a:solidFill>
            <a:prstDash val="solid"/>
          </a:ln>
        </p:spPr>
        <p:txBody>
          <a:bodyPr/>
          <a:p/>
        </p:txBody>
      </p:sp>
      <p:sp>
        <p:nvSpPr>
          <p:cNvPr id="19" name="Text 17"/>
          <p:cNvSpPr/>
          <p:nvPr/>
        </p:nvSpPr>
        <p:spPr>
          <a:xfrm>
            <a:off x="822960" y="3584448"/>
            <a:ext cx="4663440" cy="292608"/>
          </a:xfrm>
          <a:prstGeom prst="rect">
            <a:avLst/>
          </a:prstGeom>
          <a:noFill/>
          <a:ln/>
        </p:spPr>
        <p:txBody>
          <a:bodyPr wrap="square" lIns="0" tIns="0" rIns="0" bIns="0" rtlCol="0" anchor="ctr"/>
          <a:lstStyle/>
          <a:p>
            <a:pPr indent="0" marL="0">
              <a:buNone/>
            </a:pPr>
            <a:r>
              <a:rPr lang="en-US" sz="1250" b="1" spc="50" kern="0" dirty="0">
                <a:solidFill>
                  <a:srgbClr val="2AC9B8"/>
                </a:solidFill>
                <a:latin typeface="Trebuchet MS" pitchFamily="34" charset="0"/>
                <a:ea typeface="Trebuchet MS" pitchFamily="34" charset="-122"/>
                <a:cs typeface="Trebuchet MS" pitchFamily="34" charset="-120"/>
              </a:rPr>
              <a:t>WHAT THE RESEARCH SAYS</a:t>
            </a:r>
            <a:endParaRPr lang="en-US" sz="1250" dirty="0"/>
          </a:p>
        </p:txBody>
      </p:sp>
      <p:sp>
        <p:nvSpPr>
          <p:cNvPr id="20" name="Text 18"/>
          <p:cNvSpPr/>
          <p:nvPr/>
        </p:nvSpPr>
        <p:spPr>
          <a:xfrm>
            <a:off x="822960" y="3931920"/>
            <a:ext cx="4663440" cy="2103120"/>
          </a:xfrm>
          <a:prstGeom prst="rect">
            <a:avLst/>
          </a:prstGeom>
          <a:noFill/>
          <a:ln/>
        </p:spPr>
        <p:txBody>
          <a:bodyPr wrap="square" lIns="0" tIns="0" rIns="0" bIns="0" rtlCol="0" anchor="ctr"/>
          <a:lstStyle/>
          <a:p>
            <a:pPr marL="342900" indent="-342900">
              <a:spcAft>
                <a:spcPts val="800"/>
              </a:spcAft>
              <a:buSzPct val="100000"/>
              <a:buChar char="▸"/>
            </a:pPr>
            <a:r>
              <a:rPr lang="en-US" sz="1050" dirty="0">
                <a:solidFill>
                  <a:srgbClr val="F5F0E6"/>
                </a:solidFill>
                <a:latin typeface="Verdana" pitchFamily="34" charset="0"/>
                <a:ea typeface="Verdana" pitchFamily="34" charset="-122"/>
                <a:cs typeface="Verdana" pitchFamily="34" charset="-120"/>
              </a:rPr>
              <a:t>Recommenders narrow what we share, not what we each hear (Anwar, Schoenebeck &amp; Dhillon, WWW '24)</a:t>
            </a:r>
            <a:endParaRPr lang="en-US" sz="1050" dirty="0"/>
          </a:p>
          <a:p>
            <a:pPr marL="342900" indent="-342900">
              <a:spcAft>
                <a:spcPts val="800"/>
              </a:spcAft>
              <a:buSzPct val="100000"/>
              <a:buChar char="▸"/>
            </a:pPr>
            <a:r>
              <a:rPr lang="en-US" sz="1050" dirty="0">
                <a:solidFill>
                  <a:srgbClr val="F5F0E6"/>
                </a:solidFill>
                <a:latin typeface="Verdana" pitchFamily="34" charset="0"/>
                <a:ea typeface="Verdana" pitchFamily="34" charset="-122"/>
                <a:cs typeface="Verdana" pitchFamily="34" charset="-120"/>
              </a:rPr>
              <a:t>Discovery people value is social — a friend, a scene, a room — the layer the current stack strips out</a:t>
            </a:r>
            <a:endParaRPr lang="en-US" sz="1050" dirty="0"/>
          </a:p>
          <a:p>
            <a:pPr marL="342900" indent="-342900">
              <a:spcAft>
                <a:spcPts val="800"/>
              </a:spcAft>
              <a:buSzPct val="100000"/>
              <a:buChar char="▸"/>
            </a:pPr>
            <a:r>
              <a:rPr lang="en-US" sz="1050" dirty="0">
                <a:solidFill>
                  <a:srgbClr val="F5F0E6"/>
                </a:solidFill>
                <a:latin typeface="Verdana" pitchFamily="34" charset="0"/>
                <a:ea typeface="Verdana" pitchFamily="34" charset="-122"/>
                <a:cs typeface="Verdana" pitchFamily="34" charset="-120"/>
              </a:rPr>
              <a:t>Music, fashion, art and food are lived as one act of cultural identity, but served by disconnected apps</a:t>
            </a:r>
            <a:endParaRPr lang="en-US" sz="1050" dirty="0"/>
          </a:p>
        </p:txBody>
      </p:sp>
      <p:sp>
        <p:nvSpPr>
          <p:cNvPr id="21" name="Shape 19"/>
          <p:cNvSpPr/>
          <p:nvPr/>
        </p:nvSpPr>
        <p:spPr>
          <a:xfrm>
            <a:off x="6035040" y="3429000"/>
            <a:ext cx="5577840" cy="2697480"/>
          </a:xfrm>
          <a:prstGeom prst="roundRect">
            <a:avLst>
              <a:gd name="adj" fmla="val 4068"/>
            </a:avLst>
          </a:prstGeom>
          <a:solidFill>
            <a:srgbClr val="F0447E"/>
          </a:solidFill>
          <a:ln/>
        </p:spPr>
        <p:txBody>
          <a:bodyPr/>
          <a:p/>
        </p:txBody>
      </p:sp>
      <p:sp>
        <p:nvSpPr>
          <p:cNvPr id="22" name="Text 20"/>
          <p:cNvSpPr/>
          <p:nvPr/>
        </p:nvSpPr>
        <p:spPr>
          <a:xfrm>
            <a:off x="6263640" y="3529584"/>
            <a:ext cx="5120640" cy="237744"/>
          </a:xfrm>
          <a:prstGeom prst="rect">
            <a:avLst/>
          </a:prstGeom>
          <a:noFill/>
          <a:ln/>
        </p:spPr>
        <p:txBody>
          <a:bodyPr wrap="square" lIns="0" tIns="0" rIns="0" bIns="0" rtlCol="0" anchor="ctr"/>
          <a:lstStyle/>
          <a:p>
            <a:pPr indent="0" marL="0">
              <a:buNone/>
            </a:pPr>
            <a:r>
              <a:rPr lang="en-US" sz="900" b="1" spc="50" kern="0" dirty="0">
                <a:solidFill>
                  <a:srgbClr val="0D1117"/>
                </a:solidFill>
                <a:latin typeface="Verdana" pitchFamily="34" charset="0"/>
                <a:ea typeface="Verdana" pitchFamily="34" charset="-122"/>
                <a:cs typeface="Verdana" pitchFamily="34" charset="-120"/>
              </a:rPr>
              <a:t>FROM OUR INTERVIEWS</a:t>
            </a:r>
            <a:endParaRPr lang="en-US" sz="900" dirty="0"/>
          </a:p>
        </p:txBody>
      </p:sp>
      <p:sp>
        <p:nvSpPr>
          <p:cNvPr id="23" name="Text 21"/>
          <p:cNvSpPr/>
          <p:nvPr/>
        </p:nvSpPr>
        <p:spPr>
          <a:xfrm>
            <a:off x="6263640" y="3739896"/>
            <a:ext cx="5120640" cy="219456"/>
          </a:xfrm>
          <a:prstGeom prst="rect">
            <a:avLst/>
          </a:prstGeom>
          <a:noFill/>
          <a:ln/>
        </p:spPr>
        <p:txBody>
          <a:bodyPr wrap="square" lIns="0" tIns="0" rIns="0" bIns="0" rtlCol="0" anchor="ctr"/>
          <a:lstStyle/>
          <a:p>
            <a:pPr indent="0" marL="0">
              <a:buNone/>
            </a:pPr>
            <a:r>
              <a:rPr lang="en-US" sz="750" i="1" dirty="0">
                <a:solidFill>
                  <a:srgbClr val="3A1030"/>
                </a:solidFill>
                <a:latin typeface="Verdana" pitchFamily="34" charset="0"/>
                <a:ea typeface="Verdana" pitchFamily="34" charset="-122"/>
                <a:cs typeface="Verdana" pitchFamily="34" charset="-120"/>
              </a:rPr>
              <a:t>Three of us interviewed independently — same insight came back every time.</a:t>
            </a:r>
            <a:endParaRPr lang="en-US" sz="750" dirty="0"/>
          </a:p>
        </p:txBody>
      </p:sp>
      <p:sp>
        <p:nvSpPr>
          <p:cNvPr id="24" name="Shape 22"/>
          <p:cNvSpPr/>
          <p:nvPr/>
        </p:nvSpPr>
        <p:spPr>
          <a:xfrm>
            <a:off x="6263640" y="4023360"/>
            <a:ext cx="5120640" cy="0"/>
          </a:xfrm>
          <a:prstGeom prst="line">
            <a:avLst/>
          </a:prstGeom>
          <a:noFill/>
          <a:ln w="6350">
            <a:solidFill>
              <a:srgbClr val="0D1117">
                <a:alpha val="60000"/>
              </a:srgbClr>
            </a:solidFill>
            <a:prstDash val="solid"/>
          </a:ln>
        </p:spPr>
        <p:txBody>
          <a:bodyPr/>
          <a:p/>
        </p:txBody>
      </p:sp>
      <p:sp>
        <p:nvSpPr>
          <p:cNvPr id="25" name="Text 23"/>
          <p:cNvSpPr/>
          <p:nvPr/>
        </p:nvSpPr>
        <p:spPr>
          <a:xfrm>
            <a:off x="6263640" y="4078224"/>
            <a:ext cx="5120640" cy="502920"/>
          </a:xfrm>
          <a:prstGeom prst="rect">
            <a:avLst/>
          </a:prstGeom>
          <a:noFill/>
          <a:ln/>
        </p:spPr>
        <p:txBody>
          <a:bodyPr wrap="square" lIns="0" tIns="0" rIns="0" bIns="0" rtlCol="0" anchor="ctr"/>
          <a:lstStyle/>
          <a:p>
            <a:pPr indent="0" marL="0">
              <a:buNone/>
            </a:pPr>
            <a:r>
              <a:rPr lang="en-US" sz="950" i="1" dirty="0">
                <a:solidFill>
                  <a:srgbClr val="0D1117"/>
                </a:solidFill>
                <a:latin typeface="Trebuchet MS" pitchFamily="34" charset="0"/>
                <a:ea typeface="Trebuchet MS" pitchFamily="34" charset="-122"/>
                <a:cs typeface="Trebuchet MS" pitchFamily="34" charset="-120"/>
              </a:rPr>
              <a:t>"I just want it to be more human focused. Algorithm has ruined the taste — no fun, no randomness to it."</a:t>
            </a:r>
            <a:endParaRPr lang="en-US" sz="950" dirty="0"/>
          </a:p>
        </p:txBody>
      </p:sp>
      <p:sp>
        <p:nvSpPr>
          <p:cNvPr id="26" name="Text 24"/>
          <p:cNvSpPr/>
          <p:nvPr/>
        </p:nvSpPr>
        <p:spPr>
          <a:xfrm>
            <a:off x="6263640" y="4507992"/>
            <a:ext cx="5120640" cy="201168"/>
          </a:xfrm>
          <a:prstGeom prst="rect">
            <a:avLst/>
          </a:prstGeom>
          <a:noFill/>
          <a:ln/>
        </p:spPr>
        <p:txBody>
          <a:bodyPr wrap="square" lIns="0" tIns="0" rIns="0" bIns="0" rtlCol="0" anchor="ctr"/>
          <a:lstStyle/>
          <a:p>
            <a:pPr indent="0" marL="0">
              <a:buNone/>
            </a:pPr>
            <a:r>
              <a:rPr lang="en-US" sz="750" b="1" dirty="0">
                <a:solidFill>
                  <a:srgbClr val="3A1030"/>
                </a:solidFill>
                <a:latin typeface="Verdana" pitchFamily="34" charset="0"/>
                <a:ea typeface="Verdana" pitchFamily="34" charset="-122"/>
                <a:cs typeface="Verdana" pitchFamily="34" charset="-120"/>
              </a:rPr>
              <a:t>— R1-F, 28, India · interviewed by Dylan</a:t>
            </a:r>
            <a:endParaRPr lang="en-US" sz="750" dirty="0"/>
          </a:p>
        </p:txBody>
      </p:sp>
      <p:sp>
        <p:nvSpPr>
          <p:cNvPr id="27" name="Shape 25"/>
          <p:cNvSpPr/>
          <p:nvPr/>
        </p:nvSpPr>
        <p:spPr>
          <a:xfrm>
            <a:off x="6263640" y="4736592"/>
            <a:ext cx="5120640" cy="0"/>
          </a:xfrm>
          <a:prstGeom prst="line">
            <a:avLst/>
          </a:prstGeom>
          <a:noFill/>
          <a:ln w="6350">
            <a:solidFill>
              <a:srgbClr val="0D1117">
                <a:alpha val="60000"/>
              </a:srgbClr>
            </a:solidFill>
            <a:prstDash val="solid"/>
          </a:ln>
        </p:spPr>
        <p:txBody>
          <a:bodyPr/>
          <a:p/>
        </p:txBody>
      </p:sp>
      <p:sp>
        <p:nvSpPr>
          <p:cNvPr id="28" name="Text 26"/>
          <p:cNvSpPr/>
          <p:nvPr/>
        </p:nvSpPr>
        <p:spPr>
          <a:xfrm>
            <a:off x="6263640" y="4791456"/>
            <a:ext cx="5120640" cy="502920"/>
          </a:xfrm>
          <a:prstGeom prst="rect">
            <a:avLst/>
          </a:prstGeom>
          <a:noFill/>
          <a:ln/>
        </p:spPr>
        <p:txBody>
          <a:bodyPr wrap="square" lIns="0" tIns="0" rIns="0" bIns="0" rtlCol="0" anchor="ctr"/>
          <a:lstStyle/>
          <a:p>
            <a:pPr indent="0" marL="0">
              <a:buNone/>
            </a:pPr>
            <a:r>
              <a:rPr lang="en-US" sz="950" i="1" dirty="0">
                <a:solidFill>
                  <a:srgbClr val="0D1117"/>
                </a:solidFill>
                <a:latin typeface="Trebuchet MS" pitchFamily="34" charset="0"/>
                <a:ea typeface="Trebuchet MS" pitchFamily="34" charset="-122"/>
                <a:cs typeface="Trebuchet MS" pitchFamily="34" charset="-120"/>
              </a:rPr>
              <a:t>"Just tell me what's happening near me that people I trust are into. Not what a machine thinks I'll click."</a:t>
            </a:r>
            <a:endParaRPr lang="en-US" sz="950" dirty="0"/>
          </a:p>
        </p:txBody>
      </p:sp>
      <p:sp>
        <p:nvSpPr>
          <p:cNvPr id="29" name="Text 27"/>
          <p:cNvSpPr/>
          <p:nvPr/>
        </p:nvSpPr>
        <p:spPr>
          <a:xfrm>
            <a:off x="6263640" y="5221224"/>
            <a:ext cx="5120640" cy="201168"/>
          </a:xfrm>
          <a:prstGeom prst="rect">
            <a:avLst/>
          </a:prstGeom>
          <a:noFill/>
          <a:ln/>
        </p:spPr>
        <p:txBody>
          <a:bodyPr wrap="square" lIns="0" tIns="0" rIns="0" bIns="0" rtlCol="0" anchor="ctr"/>
          <a:lstStyle/>
          <a:p>
            <a:pPr indent="0" marL="0">
              <a:buNone/>
            </a:pPr>
            <a:r>
              <a:rPr lang="en-US" sz="750" b="1" dirty="0">
                <a:solidFill>
                  <a:srgbClr val="3A1030"/>
                </a:solidFill>
                <a:latin typeface="Verdana" pitchFamily="34" charset="0"/>
                <a:ea typeface="Verdana" pitchFamily="34" charset="-122"/>
                <a:cs typeface="Verdana" pitchFamily="34" charset="-120"/>
              </a:rPr>
              <a:t>— Participant · interviewed by Pranav</a:t>
            </a:r>
            <a:endParaRPr lang="en-US" sz="750" dirty="0"/>
          </a:p>
        </p:txBody>
      </p:sp>
      <p:sp>
        <p:nvSpPr>
          <p:cNvPr id="30" name="Shape 28"/>
          <p:cNvSpPr/>
          <p:nvPr/>
        </p:nvSpPr>
        <p:spPr>
          <a:xfrm>
            <a:off x="6263640" y="5449824"/>
            <a:ext cx="5120640" cy="0"/>
          </a:xfrm>
          <a:prstGeom prst="line">
            <a:avLst/>
          </a:prstGeom>
          <a:noFill/>
          <a:ln w="6350">
            <a:solidFill>
              <a:srgbClr val="0D1117">
                <a:alpha val="60000"/>
              </a:srgbClr>
            </a:solidFill>
            <a:prstDash val="solid"/>
          </a:ln>
        </p:spPr>
        <p:txBody>
          <a:bodyPr/>
          <a:p/>
        </p:txBody>
      </p:sp>
      <p:sp>
        <p:nvSpPr>
          <p:cNvPr id="31" name="Text 29"/>
          <p:cNvSpPr/>
          <p:nvPr/>
        </p:nvSpPr>
        <p:spPr>
          <a:xfrm>
            <a:off x="6263640" y="5504688"/>
            <a:ext cx="5120640" cy="365760"/>
          </a:xfrm>
          <a:prstGeom prst="rect">
            <a:avLst/>
          </a:prstGeom>
          <a:noFill/>
          <a:ln/>
        </p:spPr>
        <p:txBody>
          <a:bodyPr wrap="square" lIns="0" tIns="0" rIns="0" bIns="0" rtlCol="0" anchor="ctr"/>
          <a:lstStyle/>
          <a:p>
            <a:pPr indent="0" marL="0">
              <a:buNone/>
            </a:pPr>
            <a:r>
              <a:rPr lang="en-US" sz="950" i="1" dirty="0">
                <a:solidFill>
                  <a:srgbClr val="0D1117"/>
                </a:solidFill>
                <a:latin typeface="Trebuchet MS" pitchFamily="34" charset="0"/>
                <a:ea typeface="Trebuchet MS" pitchFamily="34" charset="-122"/>
                <a:cs typeface="Trebuchet MS" pitchFamily="34" charset="-120"/>
              </a:rPr>
              <a:t>"Everything feels very algorithm-driven. I'd like to discover things more naturally."</a:t>
            </a:r>
            <a:endParaRPr lang="en-US" sz="950" dirty="0"/>
          </a:p>
        </p:txBody>
      </p:sp>
      <p:sp>
        <p:nvSpPr>
          <p:cNvPr id="32" name="Text 30"/>
          <p:cNvSpPr/>
          <p:nvPr/>
        </p:nvSpPr>
        <p:spPr>
          <a:xfrm>
            <a:off x="6263640" y="5870448"/>
            <a:ext cx="5120640" cy="201168"/>
          </a:xfrm>
          <a:prstGeom prst="rect">
            <a:avLst/>
          </a:prstGeom>
          <a:noFill/>
          <a:ln/>
        </p:spPr>
        <p:txBody>
          <a:bodyPr wrap="square" lIns="0" tIns="0" rIns="0" bIns="0" rtlCol="0" anchor="ctr"/>
          <a:lstStyle/>
          <a:p>
            <a:pPr indent="0" marL="0">
              <a:buNone/>
            </a:pPr>
            <a:r>
              <a:rPr lang="en-US" sz="750" b="1" dirty="0">
                <a:solidFill>
                  <a:srgbClr val="3A1030"/>
                </a:solidFill>
                <a:latin typeface="Verdana" pitchFamily="34" charset="0"/>
                <a:ea typeface="Verdana" pitchFamily="34" charset="-122"/>
                <a:cs typeface="Verdana" pitchFamily="34" charset="-120"/>
              </a:rPr>
              <a:t>— R1-C · interviewed by Shaz</a:t>
            </a:r>
            <a:endParaRPr lang="en-US" sz="750" dirty="0"/>
          </a:p>
        </p:txBody>
      </p:sp>
      <p:sp>
        <p:nvSpPr>
          <p:cNvPr id="33" name="Text 31"/>
          <p:cNvSpPr/>
          <p:nvPr/>
        </p:nvSpPr>
        <p:spPr>
          <a:xfrm>
            <a:off x="457200" y="6473952"/>
            <a:ext cx="7315200" cy="274320"/>
          </a:xfrm>
          <a:prstGeom prst="rect">
            <a:avLst/>
          </a:prstGeom>
          <a:noFill/>
          <a:ln/>
        </p:spPr>
        <p:txBody>
          <a:bodyPr wrap="square" lIns="0" tIns="0" rIns="0" bIns="0" rtlCol="0" anchor="ctr"/>
          <a:lstStyle/>
          <a:p>
            <a:pPr indent="0" marL="0">
              <a:buNone/>
            </a:pPr>
            <a:r>
              <a:rPr lang="en-US" sz="900" dirty="0">
                <a:solidFill>
                  <a:srgbClr val="8A93A6"/>
                </a:solidFill>
                <a:latin typeface="Verdana" pitchFamily="34" charset="0"/>
                <a:ea typeface="Verdana" pitchFamily="34" charset="-122"/>
                <a:cs typeface="Verdana" pitchFamily="34" charset="-120"/>
              </a:rPr>
              <a:t>SLIDE 2 — DOMAIN &amp; PROBLEM SPACE</a:t>
            </a:r>
            <a:endParaRPr lang="en-US" sz="900" dirty="0"/>
          </a:p>
        </p:txBody>
      </p:sp>
      <p:sp>
        <p:nvSpPr>
          <p:cNvPr id="34" name="Text 32"/>
          <p:cNvSpPr/>
          <p:nvPr/>
        </p:nvSpPr>
        <p:spPr>
          <a:xfrm>
            <a:off x="8229600" y="6473952"/>
            <a:ext cx="3474720" cy="274320"/>
          </a:xfrm>
          <a:prstGeom prst="rect">
            <a:avLst/>
          </a:prstGeom>
          <a:noFill/>
          <a:ln/>
        </p:spPr>
        <p:txBody>
          <a:bodyPr wrap="square" lIns="0" tIns="0" rIns="0" bIns="0" rtlCol="0" anchor="ctr"/>
          <a:lstStyle/>
          <a:p>
            <a:pPr algn="r" indent="0" marL="0">
              <a:buNone/>
            </a:pPr>
            <a:r>
              <a:rPr lang="en-US" sz="900" spc="100" kern="0" dirty="0">
                <a:solidFill>
                  <a:srgbClr val="8A93A6"/>
                </a:solidFill>
                <a:latin typeface="Verdana" pitchFamily="34" charset="0"/>
                <a:ea typeface="Verdana" pitchFamily="34" charset="-122"/>
                <a:cs typeface="Verdana" pitchFamily="34" charset="-120"/>
              </a:rPr>
              <a:t>TEAM MOTIF · DECO3500</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548640" y="411480"/>
            <a:ext cx="10515600" cy="685800"/>
          </a:xfrm>
          <a:prstGeom prst="rect">
            <a:avLst/>
          </a:prstGeom>
          <a:noFill/>
          <a:ln/>
        </p:spPr>
        <p:txBody>
          <a:bodyPr wrap="square" lIns="0" tIns="0" rIns="0" bIns="0" rtlCol="0" anchor="ctr"/>
          <a:lstStyle/>
          <a:p>
            <a:pPr indent="0" marL="0">
              <a:buNone/>
            </a:pPr>
            <a:r>
              <a:rPr lang="en-US" sz="2800" b="1" dirty="0">
                <a:solidFill>
                  <a:srgbClr val="F5F0E6"/>
                </a:solidFill>
                <a:latin typeface="Trebuchet MS" pitchFamily="34" charset="0"/>
                <a:ea typeface="Trebuchet MS" pitchFamily="34" charset="-122"/>
                <a:cs typeface="Trebuchet MS" pitchFamily="34" charset="-120"/>
              </a:rPr>
              <a:t>Design opportunity &amp; concept</a:t>
            </a:r>
            <a:endParaRPr lang="en-US" sz="2800" dirty="0"/>
          </a:p>
        </p:txBody>
      </p:sp>
      <p:sp>
        <p:nvSpPr>
          <p:cNvPr id="3" name="Shape 1"/>
          <p:cNvSpPr/>
          <p:nvPr/>
        </p:nvSpPr>
        <p:spPr>
          <a:xfrm>
            <a:off x="548640" y="1051560"/>
            <a:ext cx="5029200" cy="0"/>
          </a:xfrm>
          <a:prstGeom prst="line">
            <a:avLst/>
          </a:prstGeom>
          <a:noFill/>
          <a:ln w="19050">
            <a:solidFill>
              <a:srgbClr val="2AC9B8"/>
            </a:solidFill>
            <a:prstDash val="solid"/>
          </a:ln>
        </p:spPr>
        <p:txBody>
          <a:bodyPr/>
          <a:p/>
        </p:txBody>
      </p:sp>
      <p:sp>
        <p:nvSpPr>
          <p:cNvPr id="4" name="Text 2"/>
          <p:cNvSpPr/>
          <p:nvPr/>
        </p:nvSpPr>
        <p:spPr>
          <a:xfrm>
            <a:off x="548640" y="1133856"/>
            <a:ext cx="10789920" cy="365760"/>
          </a:xfrm>
          <a:prstGeom prst="rect">
            <a:avLst/>
          </a:prstGeom>
          <a:noFill/>
          <a:ln/>
        </p:spPr>
        <p:txBody>
          <a:bodyPr wrap="square" lIns="0" tIns="0" rIns="0" bIns="0" rtlCol="0" anchor="ctr"/>
          <a:lstStyle/>
          <a:p>
            <a:pPr indent="0" marL="0">
              <a:buNone/>
            </a:pPr>
            <a:r>
              <a:rPr lang="en-US" sz="1250" i="1" dirty="0">
                <a:solidFill>
                  <a:srgbClr val="2AC9B8"/>
                </a:solidFill>
                <a:latin typeface="Verdana" pitchFamily="34" charset="0"/>
                <a:ea typeface="Verdana" pitchFamily="34" charset="-122"/>
                <a:cs typeface="Verdana" pitchFamily="34" charset="-120"/>
              </a:rPr>
              <a:t>One place to explore culture through music, fashion, art and food — not five separate searches.</a:t>
            </a:r>
            <a:endParaRPr lang="en-US" sz="1250" dirty="0"/>
          </a:p>
        </p:txBody>
      </p:sp>
      <p:sp>
        <p:nvSpPr>
          <p:cNvPr id="5" name="Shape 3"/>
          <p:cNvSpPr/>
          <p:nvPr/>
        </p:nvSpPr>
        <p:spPr>
          <a:xfrm>
            <a:off x="548640" y="1600200"/>
            <a:ext cx="10881360" cy="1234440"/>
          </a:xfrm>
          <a:prstGeom prst="roundRect">
            <a:avLst>
              <a:gd name="adj" fmla="val 7407"/>
            </a:avLst>
          </a:prstGeom>
          <a:solidFill>
            <a:srgbClr val="1B2130"/>
          </a:solidFill>
          <a:ln w="9525">
            <a:solidFill>
              <a:srgbClr val="E8663A"/>
            </a:solidFill>
            <a:prstDash val="solid"/>
          </a:ln>
        </p:spPr>
        <p:txBody>
          <a:bodyPr/>
          <a:p/>
        </p:txBody>
      </p:sp>
      <p:sp>
        <p:nvSpPr>
          <p:cNvPr id="6" name="Text 4"/>
          <p:cNvSpPr/>
          <p:nvPr/>
        </p:nvSpPr>
        <p:spPr>
          <a:xfrm>
            <a:off x="822960" y="1709928"/>
            <a:ext cx="4572000" cy="256032"/>
          </a:xfrm>
          <a:prstGeom prst="rect">
            <a:avLst/>
          </a:prstGeom>
          <a:noFill/>
          <a:ln/>
        </p:spPr>
        <p:txBody>
          <a:bodyPr wrap="square" lIns="0" tIns="0" rIns="0" bIns="0" rtlCol="0" anchor="ctr"/>
          <a:lstStyle/>
          <a:p>
            <a:pPr indent="0" marL="0">
              <a:buNone/>
            </a:pPr>
            <a:r>
              <a:rPr lang="en-US" sz="950" b="1" spc="50" kern="0" dirty="0">
                <a:solidFill>
                  <a:srgbClr val="E8663A"/>
                </a:solidFill>
                <a:latin typeface="Verdana" pitchFamily="34" charset="0"/>
                <a:ea typeface="Verdana" pitchFamily="34" charset="-122"/>
                <a:cs typeface="Verdana" pitchFamily="34" charset="-120"/>
              </a:rPr>
              <a:t>THE OPPORTUNITY</a:t>
            </a:r>
            <a:endParaRPr lang="en-US" sz="950" dirty="0"/>
          </a:p>
        </p:txBody>
      </p:sp>
      <p:sp>
        <p:nvSpPr>
          <p:cNvPr id="7" name="Text 5"/>
          <p:cNvSpPr/>
          <p:nvPr/>
        </p:nvSpPr>
        <p:spPr>
          <a:xfrm>
            <a:off x="822960" y="1947672"/>
            <a:ext cx="10332720" cy="868680"/>
          </a:xfrm>
          <a:prstGeom prst="rect">
            <a:avLst/>
          </a:prstGeom>
          <a:noFill/>
          <a:ln/>
        </p:spPr>
        <p:txBody>
          <a:bodyPr wrap="square" lIns="0" tIns="0" rIns="0" bIns="0" rtlCol="0" anchor="ctr"/>
          <a:lstStyle/>
          <a:p>
            <a:pPr indent="0" marL="0">
              <a:buNone/>
            </a:pPr>
            <a:r>
              <a:rPr lang="en-US" sz="1050" dirty="0">
                <a:solidFill>
                  <a:srgbClr val="F5F0E6"/>
                </a:solidFill>
                <a:latin typeface="Verdana" pitchFamily="34" charset="0"/>
                <a:ea typeface="Verdana" pitchFamily="34" charset="-122"/>
                <a:cs typeface="Verdana" pitchFamily="34" charset="-120"/>
              </a:rPr>
              <a:t>A living, wiki-style space for world culture: pick any tradition and see it holistically — the instruments, the fabric and dress, the food, the art, the stories — tied together, not scattered across five different searches. Streamed music and a lightweight remix/Drop feature sit alongside it, but the encyclopedic core is the point.</a:t>
            </a:r>
            <a:endParaRPr lang="en-US" sz="1050" dirty="0"/>
          </a:p>
        </p:txBody>
      </p:sp>
      <p:sp>
        <p:nvSpPr>
          <p:cNvPr id="8" name="Text 6"/>
          <p:cNvSpPr/>
          <p:nvPr/>
        </p:nvSpPr>
        <p:spPr>
          <a:xfrm>
            <a:off x="548640" y="2971800"/>
            <a:ext cx="7315200" cy="274320"/>
          </a:xfrm>
          <a:prstGeom prst="rect">
            <a:avLst/>
          </a:prstGeom>
          <a:noFill/>
          <a:ln/>
        </p:spPr>
        <p:txBody>
          <a:bodyPr wrap="square" lIns="0" tIns="0" rIns="0" bIns="0" rtlCol="0" anchor="ctr"/>
          <a:lstStyle/>
          <a:p>
            <a:pPr indent="0" marL="0">
              <a:buNone/>
            </a:pPr>
            <a:r>
              <a:rPr lang="en-US" sz="1150" b="1" spc="50" kern="0" dirty="0">
                <a:solidFill>
                  <a:srgbClr val="2AC9B8"/>
                </a:solidFill>
                <a:latin typeface="Trebuchet MS" pitchFamily="34" charset="0"/>
                <a:ea typeface="Trebuchet MS" pitchFamily="34" charset="-122"/>
                <a:cs typeface="Trebuchet MS" pitchFamily="34" charset="-120"/>
              </a:rPr>
              <a:t>EXAMPLES OF WHAT A USER MIGHT EXPLORE</a:t>
            </a:r>
            <a:endParaRPr lang="en-US" sz="1150" dirty="0"/>
          </a:p>
        </p:txBody>
      </p:sp>
      <p:sp>
        <p:nvSpPr>
          <p:cNvPr id="9" name="Shape 7"/>
          <p:cNvSpPr/>
          <p:nvPr/>
        </p:nvSpPr>
        <p:spPr>
          <a:xfrm>
            <a:off x="548640" y="3310128"/>
            <a:ext cx="2048256" cy="868680"/>
          </a:xfrm>
          <a:prstGeom prst="roundRect">
            <a:avLst>
              <a:gd name="adj" fmla="val 42105"/>
            </a:avLst>
          </a:prstGeom>
          <a:solidFill>
            <a:srgbClr val="252C3E"/>
          </a:solidFill>
          <a:ln w="9525">
            <a:solidFill>
              <a:srgbClr val="2AC9B8"/>
            </a:solidFill>
            <a:prstDash val="solid"/>
          </a:ln>
        </p:spPr>
        <p:txBody>
          <a:bodyPr/>
          <a:p/>
        </p:txBody>
      </p:sp>
      <p:sp>
        <p:nvSpPr>
          <p:cNvPr id="10" name="Text 8"/>
          <p:cNvSpPr/>
          <p:nvPr/>
        </p:nvSpPr>
        <p:spPr>
          <a:xfrm>
            <a:off x="640080" y="3310128"/>
            <a:ext cx="1865376" cy="868680"/>
          </a:xfrm>
          <a:prstGeom prst="rect">
            <a:avLst/>
          </a:prstGeom>
          <a:noFill/>
          <a:ln/>
        </p:spPr>
        <p:txBody>
          <a:bodyPr wrap="square" lIns="0" tIns="0" rIns="0" bIns="0" rtlCol="0" anchor="ctr"/>
          <a:lstStyle/>
          <a:p>
            <a:pPr algn="ctr" indent="0" marL="0">
              <a:buNone/>
            </a:pPr>
            <a:r>
              <a:rPr lang="en-US" sz="950" b="1" dirty="0">
                <a:solidFill>
                  <a:srgbClr val="F5F0E6"/>
                </a:solidFill>
                <a:latin typeface="Verdana" pitchFamily="34" charset="0"/>
                <a:ea typeface="Verdana" pitchFamily="34" charset="-122"/>
                <a:cs typeface="Verdana" pitchFamily="34" charset="-120"/>
              </a:rPr>
              <a:t>Aboriginal Australian</a:t>
            </a:r>
            <a:endParaRPr lang="en-US" sz="950" dirty="0"/>
          </a:p>
          <a:p>
            <a:pPr algn="ctr" indent="0" marL="0">
              <a:buNone/>
            </a:pPr>
            <a:r>
              <a:rPr lang="en-US" sz="950" b="1" dirty="0">
                <a:solidFill>
                  <a:srgbClr val="F5F0E6"/>
                </a:solidFill>
                <a:latin typeface="Verdana" pitchFamily="34" charset="0"/>
                <a:ea typeface="Verdana" pitchFamily="34" charset="-122"/>
                <a:cs typeface="Verdana" pitchFamily="34" charset="-120"/>
              </a:rPr>
              <a:t>instruments &amp; art</a:t>
            </a:r>
            <a:endParaRPr lang="en-US" sz="950" dirty="0"/>
          </a:p>
        </p:txBody>
      </p:sp>
      <p:sp>
        <p:nvSpPr>
          <p:cNvPr id="11" name="Shape 9"/>
          <p:cNvSpPr/>
          <p:nvPr/>
        </p:nvSpPr>
        <p:spPr>
          <a:xfrm>
            <a:off x="2816352" y="3310128"/>
            <a:ext cx="2048256" cy="868680"/>
          </a:xfrm>
          <a:prstGeom prst="roundRect">
            <a:avLst>
              <a:gd name="adj" fmla="val 42105"/>
            </a:avLst>
          </a:prstGeom>
          <a:solidFill>
            <a:srgbClr val="252C3E"/>
          </a:solidFill>
          <a:ln w="9525">
            <a:solidFill>
              <a:srgbClr val="E8663A"/>
            </a:solidFill>
            <a:prstDash val="solid"/>
          </a:ln>
        </p:spPr>
        <p:txBody>
          <a:bodyPr/>
          <a:p/>
        </p:txBody>
      </p:sp>
      <p:sp>
        <p:nvSpPr>
          <p:cNvPr id="12" name="Text 10"/>
          <p:cNvSpPr/>
          <p:nvPr/>
        </p:nvSpPr>
        <p:spPr>
          <a:xfrm>
            <a:off x="2907792" y="3310128"/>
            <a:ext cx="1865376" cy="868680"/>
          </a:xfrm>
          <a:prstGeom prst="rect">
            <a:avLst/>
          </a:prstGeom>
          <a:noFill/>
          <a:ln/>
        </p:spPr>
        <p:txBody>
          <a:bodyPr wrap="square" lIns="0" tIns="0" rIns="0" bIns="0" rtlCol="0" anchor="ctr"/>
          <a:lstStyle/>
          <a:p>
            <a:pPr algn="ctr" indent="0" marL="0">
              <a:buNone/>
            </a:pPr>
            <a:r>
              <a:rPr lang="en-US" sz="950" b="1" dirty="0">
                <a:solidFill>
                  <a:srgbClr val="F5F0E6"/>
                </a:solidFill>
                <a:latin typeface="Verdana" pitchFamily="34" charset="0"/>
                <a:ea typeface="Verdana" pitchFamily="34" charset="-122"/>
                <a:cs typeface="Verdana" pitchFamily="34" charset="-120"/>
              </a:rPr>
              <a:t>Japanese street</a:t>
            </a:r>
            <a:endParaRPr lang="en-US" sz="950" dirty="0"/>
          </a:p>
          <a:p>
            <a:pPr algn="ctr" indent="0" marL="0">
              <a:buNone/>
            </a:pPr>
            <a:r>
              <a:rPr lang="en-US" sz="950" b="1" dirty="0">
                <a:solidFill>
                  <a:srgbClr val="F5F0E6"/>
                </a:solidFill>
                <a:latin typeface="Verdana" pitchFamily="34" charset="0"/>
                <a:ea typeface="Verdana" pitchFamily="34" charset="-122"/>
                <a:cs typeface="Verdana" pitchFamily="34" charset="-120"/>
              </a:rPr>
              <a:t>fashion</a:t>
            </a:r>
            <a:endParaRPr lang="en-US" sz="950" dirty="0"/>
          </a:p>
        </p:txBody>
      </p:sp>
      <p:sp>
        <p:nvSpPr>
          <p:cNvPr id="13" name="Shape 11"/>
          <p:cNvSpPr/>
          <p:nvPr/>
        </p:nvSpPr>
        <p:spPr>
          <a:xfrm>
            <a:off x="5084064" y="3310128"/>
            <a:ext cx="2048256" cy="868680"/>
          </a:xfrm>
          <a:prstGeom prst="roundRect">
            <a:avLst>
              <a:gd name="adj" fmla="val 42105"/>
            </a:avLst>
          </a:prstGeom>
          <a:solidFill>
            <a:srgbClr val="252C3E"/>
          </a:solidFill>
          <a:ln w="9525">
            <a:solidFill>
              <a:srgbClr val="F0447E"/>
            </a:solidFill>
            <a:prstDash val="solid"/>
          </a:ln>
        </p:spPr>
        <p:txBody>
          <a:bodyPr/>
          <a:p/>
        </p:txBody>
      </p:sp>
      <p:sp>
        <p:nvSpPr>
          <p:cNvPr id="14" name="Text 12"/>
          <p:cNvSpPr/>
          <p:nvPr/>
        </p:nvSpPr>
        <p:spPr>
          <a:xfrm>
            <a:off x="5175504" y="3310128"/>
            <a:ext cx="1865376" cy="868680"/>
          </a:xfrm>
          <a:prstGeom prst="rect">
            <a:avLst/>
          </a:prstGeom>
          <a:noFill/>
          <a:ln/>
        </p:spPr>
        <p:txBody>
          <a:bodyPr wrap="square" lIns="0" tIns="0" rIns="0" bIns="0" rtlCol="0" anchor="ctr"/>
          <a:lstStyle/>
          <a:p>
            <a:pPr algn="ctr" indent="0" marL="0">
              <a:buNone/>
            </a:pPr>
            <a:r>
              <a:rPr lang="en-US" sz="950" b="1" dirty="0">
                <a:solidFill>
                  <a:srgbClr val="F5F0E6"/>
                </a:solidFill>
                <a:latin typeface="Verdana" pitchFamily="34" charset="0"/>
                <a:ea typeface="Verdana" pitchFamily="34" charset="-122"/>
                <a:cs typeface="Verdana" pitchFamily="34" charset="-120"/>
              </a:rPr>
              <a:t>West African</a:t>
            </a:r>
            <a:endParaRPr lang="en-US" sz="950" dirty="0"/>
          </a:p>
          <a:p>
            <a:pPr algn="ctr" indent="0" marL="0">
              <a:buNone/>
            </a:pPr>
            <a:r>
              <a:rPr lang="en-US" sz="950" b="1" dirty="0">
                <a:solidFill>
                  <a:srgbClr val="F5F0E6"/>
                </a:solidFill>
                <a:latin typeface="Verdana" pitchFamily="34" charset="0"/>
                <a:ea typeface="Verdana" pitchFamily="34" charset="-122"/>
                <a:cs typeface="Verdana" pitchFamily="34" charset="-120"/>
              </a:rPr>
              <a:t>highlife music</a:t>
            </a:r>
            <a:endParaRPr lang="en-US" sz="950" dirty="0"/>
          </a:p>
        </p:txBody>
      </p:sp>
      <p:sp>
        <p:nvSpPr>
          <p:cNvPr id="15" name="Shape 13"/>
          <p:cNvSpPr/>
          <p:nvPr/>
        </p:nvSpPr>
        <p:spPr>
          <a:xfrm>
            <a:off x="7351776" y="3310128"/>
            <a:ext cx="2048256" cy="868680"/>
          </a:xfrm>
          <a:prstGeom prst="roundRect">
            <a:avLst>
              <a:gd name="adj" fmla="val 42105"/>
            </a:avLst>
          </a:prstGeom>
          <a:solidFill>
            <a:srgbClr val="252C3E"/>
          </a:solidFill>
          <a:ln w="9525">
            <a:solidFill>
              <a:srgbClr val="2AC9B8"/>
            </a:solidFill>
            <a:prstDash val="solid"/>
          </a:ln>
        </p:spPr>
        <p:txBody>
          <a:bodyPr/>
          <a:p/>
        </p:txBody>
      </p:sp>
      <p:sp>
        <p:nvSpPr>
          <p:cNvPr id="16" name="Text 14"/>
          <p:cNvSpPr/>
          <p:nvPr/>
        </p:nvSpPr>
        <p:spPr>
          <a:xfrm>
            <a:off x="7443216" y="3310128"/>
            <a:ext cx="1865376" cy="868680"/>
          </a:xfrm>
          <a:prstGeom prst="rect">
            <a:avLst/>
          </a:prstGeom>
          <a:noFill/>
          <a:ln/>
        </p:spPr>
        <p:txBody>
          <a:bodyPr wrap="square" lIns="0" tIns="0" rIns="0" bIns="0" rtlCol="0" anchor="ctr"/>
          <a:lstStyle/>
          <a:p>
            <a:pPr algn="ctr" indent="0" marL="0">
              <a:buNone/>
            </a:pPr>
            <a:r>
              <a:rPr lang="en-US" sz="950" b="1" dirty="0">
                <a:solidFill>
                  <a:srgbClr val="F5F0E6"/>
                </a:solidFill>
                <a:latin typeface="Verdana" pitchFamily="34" charset="0"/>
                <a:ea typeface="Verdana" pitchFamily="34" charset="-122"/>
                <a:cs typeface="Verdana" pitchFamily="34" charset="-120"/>
              </a:rPr>
              <a:t>Andean</a:t>
            </a:r>
            <a:endParaRPr lang="en-US" sz="950" dirty="0"/>
          </a:p>
          <a:p>
            <a:pPr algn="ctr" indent="0" marL="0">
              <a:buNone/>
            </a:pPr>
            <a:r>
              <a:rPr lang="en-US" sz="950" b="1" dirty="0">
                <a:solidFill>
                  <a:srgbClr val="F5F0E6"/>
                </a:solidFill>
                <a:latin typeface="Verdana" pitchFamily="34" charset="0"/>
                <a:ea typeface="Verdana" pitchFamily="34" charset="-122"/>
                <a:cs typeface="Verdana" pitchFamily="34" charset="-120"/>
              </a:rPr>
              <a:t>textile weaving</a:t>
            </a:r>
            <a:endParaRPr lang="en-US" sz="950" dirty="0"/>
          </a:p>
        </p:txBody>
      </p:sp>
      <p:sp>
        <p:nvSpPr>
          <p:cNvPr id="17" name="Shape 15"/>
          <p:cNvSpPr/>
          <p:nvPr/>
        </p:nvSpPr>
        <p:spPr>
          <a:xfrm>
            <a:off x="9619488" y="3310128"/>
            <a:ext cx="2048256" cy="868680"/>
          </a:xfrm>
          <a:prstGeom prst="roundRect">
            <a:avLst>
              <a:gd name="adj" fmla="val 42105"/>
            </a:avLst>
          </a:prstGeom>
          <a:solidFill>
            <a:srgbClr val="252C3E"/>
          </a:solidFill>
          <a:ln w="9525">
            <a:solidFill>
              <a:srgbClr val="E8663A"/>
            </a:solidFill>
            <a:prstDash val="solid"/>
          </a:ln>
        </p:spPr>
        <p:txBody>
          <a:bodyPr/>
          <a:p/>
        </p:txBody>
      </p:sp>
      <p:sp>
        <p:nvSpPr>
          <p:cNvPr id="18" name="Text 16"/>
          <p:cNvSpPr/>
          <p:nvPr/>
        </p:nvSpPr>
        <p:spPr>
          <a:xfrm>
            <a:off x="9710928" y="3310128"/>
            <a:ext cx="1865376" cy="868680"/>
          </a:xfrm>
          <a:prstGeom prst="rect">
            <a:avLst/>
          </a:prstGeom>
          <a:noFill/>
          <a:ln/>
        </p:spPr>
        <p:txBody>
          <a:bodyPr wrap="square" lIns="0" tIns="0" rIns="0" bIns="0" rtlCol="0" anchor="ctr"/>
          <a:lstStyle/>
          <a:p>
            <a:pPr algn="ctr" indent="0" marL="0">
              <a:buNone/>
            </a:pPr>
            <a:r>
              <a:rPr lang="en-US" sz="950" b="1" dirty="0">
                <a:solidFill>
                  <a:srgbClr val="F5F0E6"/>
                </a:solidFill>
                <a:latin typeface="Verdana" pitchFamily="34" charset="0"/>
                <a:ea typeface="Verdana" pitchFamily="34" charset="-122"/>
                <a:cs typeface="Verdana" pitchFamily="34" charset="-120"/>
              </a:rPr>
              <a:t>K-pop</a:t>
            </a:r>
            <a:endParaRPr lang="en-US" sz="950" dirty="0"/>
          </a:p>
          <a:p>
            <a:pPr algn="ctr" indent="0" marL="0">
              <a:buNone/>
            </a:pPr>
            <a:r>
              <a:rPr lang="en-US" sz="950" b="1" dirty="0">
                <a:solidFill>
                  <a:srgbClr val="F5F0E6"/>
                </a:solidFill>
                <a:latin typeface="Verdana" pitchFamily="34" charset="0"/>
                <a:ea typeface="Verdana" pitchFamily="34" charset="-122"/>
                <a:cs typeface="Verdana" pitchFamily="34" charset="-120"/>
              </a:rPr>
              <a:t>fan culture</a:t>
            </a:r>
            <a:endParaRPr lang="en-US" sz="950" dirty="0"/>
          </a:p>
        </p:txBody>
      </p:sp>
      <p:sp>
        <p:nvSpPr>
          <p:cNvPr id="19" name="Text 17"/>
          <p:cNvSpPr/>
          <p:nvPr/>
        </p:nvSpPr>
        <p:spPr>
          <a:xfrm>
            <a:off x="548640" y="4251960"/>
            <a:ext cx="10058400" cy="274320"/>
          </a:xfrm>
          <a:prstGeom prst="rect">
            <a:avLst/>
          </a:prstGeom>
          <a:noFill/>
          <a:ln/>
        </p:spPr>
        <p:txBody>
          <a:bodyPr wrap="square" lIns="0" tIns="0" rIns="0" bIns="0" rtlCol="0" anchor="ctr"/>
          <a:lstStyle/>
          <a:p>
            <a:pPr indent="0" marL="0">
              <a:buNone/>
            </a:pPr>
            <a:r>
              <a:rPr lang="en-US" sz="850" i="1" dirty="0">
                <a:solidFill>
                  <a:srgbClr val="8A93A6"/>
                </a:solidFill>
                <a:latin typeface="Verdana" pitchFamily="34" charset="0"/>
                <a:ea typeface="Verdana" pitchFamily="34" charset="-122"/>
                <a:cs typeface="Verdana" pitchFamily="34" charset="-120"/>
              </a:rPr>
              <a:t>Illustrative only — not a fixed list. The framework is meant to generalise across any culture.</a:t>
            </a:r>
            <a:endParaRPr lang="en-US" sz="850" dirty="0"/>
          </a:p>
        </p:txBody>
      </p:sp>
      <p:sp>
        <p:nvSpPr>
          <p:cNvPr id="20" name="Text 18"/>
          <p:cNvSpPr/>
          <p:nvPr/>
        </p:nvSpPr>
        <p:spPr>
          <a:xfrm>
            <a:off x="548640" y="4617720"/>
            <a:ext cx="5486400" cy="274320"/>
          </a:xfrm>
          <a:prstGeom prst="rect">
            <a:avLst/>
          </a:prstGeom>
          <a:noFill/>
          <a:ln/>
        </p:spPr>
        <p:txBody>
          <a:bodyPr wrap="square" lIns="0" tIns="0" rIns="0" bIns="0" rtlCol="0" anchor="ctr"/>
          <a:lstStyle/>
          <a:p>
            <a:pPr indent="0" marL="0">
              <a:buNone/>
            </a:pPr>
            <a:r>
              <a:rPr lang="en-US" sz="1200" b="1" spc="50" kern="0" dirty="0">
                <a:solidFill>
                  <a:srgbClr val="F0447E"/>
                </a:solidFill>
                <a:latin typeface="Trebuchet MS" pitchFamily="34" charset="0"/>
                <a:ea typeface="Trebuchet MS" pitchFamily="34" charset="-122"/>
                <a:cs typeface="Trebuchet MS" pitchFamily="34" charset="-120"/>
              </a:rPr>
              <a:t>PRIOR ATTEMPTS — AND WHERE THEY STOP</a:t>
            </a:r>
            <a:endParaRPr lang="en-US" sz="1200" dirty="0"/>
          </a:p>
        </p:txBody>
      </p:sp>
      <p:sp>
        <p:nvSpPr>
          <p:cNvPr id="21" name="Shape 19"/>
          <p:cNvSpPr/>
          <p:nvPr/>
        </p:nvSpPr>
        <p:spPr>
          <a:xfrm>
            <a:off x="548640" y="4937760"/>
            <a:ext cx="2542032" cy="1234440"/>
          </a:xfrm>
          <a:prstGeom prst="roundRect">
            <a:avLst>
              <a:gd name="adj" fmla="val 7407"/>
            </a:avLst>
          </a:prstGeom>
          <a:solidFill>
            <a:srgbClr val="1B2130"/>
          </a:solidFill>
          <a:ln w="6350">
            <a:solidFill>
              <a:srgbClr val="3A4152"/>
            </a:solidFill>
            <a:prstDash val="solid"/>
          </a:ln>
        </p:spPr>
        <p:txBody>
          <a:bodyPr/>
          <a:p/>
        </p:txBody>
      </p:sp>
      <p:sp>
        <p:nvSpPr>
          <p:cNvPr id="22" name="Text 20"/>
          <p:cNvSpPr/>
          <p:nvPr/>
        </p:nvSpPr>
        <p:spPr>
          <a:xfrm>
            <a:off x="685800" y="5029200"/>
            <a:ext cx="2267712" cy="411480"/>
          </a:xfrm>
          <a:prstGeom prst="rect">
            <a:avLst/>
          </a:prstGeom>
          <a:noFill/>
          <a:ln/>
        </p:spPr>
        <p:txBody>
          <a:bodyPr wrap="square" lIns="0" tIns="0" rIns="0" bIns="0" rtlCol="0" anchor="ctr"/>
          <a:lstStyle/>
          <a:p>
            <a:pPr indent="0" marL="0">
              <a:buNone/>
            </a:pPr>
            <a:r>
              <a:rPr lang="en-US" sz="1000" b="1" dirty="0">
                <a:solidFill>
                  <a:srgbClr val="F5F0E6"/>
                </a:solidFill>
                <a:latin typeface="Verdana" pitchFamily="34" charset="0"/>
                <a:ea typeface="Verdana" pitchFamily="34" charset="-122"/>
                <a:cs typeface="Verdana" pitchFamily="34" charset="-120"/>
              </a:rPr>
              <a:t>Spotify / Apple Music</a:t>
            </a:r>
            <a:endParaRPr lang="en-US" sz="1000" dirty="0"/>
          </a:p>
        </p:txBody>
      </p:sp>
      <p:sp>
        <p:nvSpPr>
          <p:cNvPr id="23" name="Text 21"/>
          <p:cNvSpPr/>
          <p:nvPr/>
        </p:nvSpPr>
        <p:spPr>
          <a:xfrm>
            <a:off x="685800" y="5413248"/>
            <a:ext cx="2267712" cy="685800"/>
          </a:xfrm>
          <a:prstGeom prst="rect">
            <a:avLst/>
          </a:prstGeom>
          <a:noFill/>
          <a:ln/>
        </p:spPr>
        <p:txBody>
          <a:bodyPr wrap="square" lIns="0" tIns="0" rIns="0" bIns="0" rtlCol="0" anchor="ctr"/>
          <a:lstStyle/>
          <a:p>
            <a:pPr indent="0" marL="0">
              <a:buNone/>
            </a:pPr>
            <a:r>
              <a:rPr lang="en-US" sz="850" dirty="0">
                <a:solidFill>
                  <a:srgbClr val="8A93A6"/>
                </a:solidFill>
                <a:latin typeface="Verdana" pitchFamily="34" charset="0"/>
                <a:ea typeface="Verdana" pitchFamily="34" charset="-122"/>
                <a:cs typeface="Verdana" pitchFamily="34" charset="-120"/>
              </a:rPr>
              <a:t>Solo listening; social features are an afterthought</a:t>
            </a:r>
            <a:endParaRPr lang="en-US" sz="850" dirty="0"/>
          </a:p>
        </p:txBody>
      </p:sp>
      <p:sp>
        <p:nvSpPr>
          <p:cNvPr id="24" name="Shape 22"/>
          <p:cNvSpPr/>
          <p:nvPr/>
        </p:nvSpPr>
        <p:spPr>
          <a:xfrm>
            <a:off x="3273552" y="4937760"/>
            <a:ext cx="2542032" cy="1234440"/>
          </a:xfrm>
          <a:prstGeom prst="roundRect">
            <a:avLst>
              <a:gd name="adj" fmla="val 7407"/>
            </a:avLst>
          </a:prstGeom>
          <a:solidFill>
            <a:srgbClr val="1B2130"/>
          </a:solidFill>
          <a:ln w="6350">
            <a:solidFill>
              <a:srgbClr val="3A4152"/>
            </a:solidFill>
            <a:prstDash val="solid"/>
          </a:ln>
        </p:spPr>
        <p:txBody>
          <a:bodyPr/>
          <a:p/>
        </p:txBody>
      </p:sp>
      <p:sp>
        <p:nvSpPr>
          <p:cNvPr id="25" name="Text 23"/>
          <p:cNvSpPr/>
          <p:nvPr/>
        </p:nvSpPr>
        <p:spPr>
          <a:xfrm>
            <a:off x="3410712" y="5029200"/>
            <a:ext cx="2267712" cy="411480"/>
          </a:xfrm>
          <a:prstGeom prst="rect">
            <a:avLst/>
          </a:prstGeom>
          <a:noFill/>
          <a:ln/>
        </p:spPr>
        <p:txBody>
          <a:bodyPr wrap="square" lIns="0" tIns="0" rIns="0" bIns="0" rtlCol="0" anchor="ctr"/>
          <a:lstStyle/>
          <a:p>
            <a:pPr indent="0" marL="0">
              <a:buNone/>
            </a:pPr>
            <a:r>
              <a:rPr lang="en-US" sz="1000" b="1" dirty="0">
                <a:solidFill>
                  <a:srgbClr val="F5F0E6"/>
                </a:solidFill>
                <a:latin typeface="Verdana" pitchFamily="34" charset="0"/>
                <a:ea typeface="Verdana" pitchFamily="34" charset="-122"/>
                <a:cs typeface="Verdana" pitchFamily="34" charset="-120"/>
              </a:rPr>
              <a:t>Wikipedia</a:t>
            </a:r>
            <a:endParaRPr lang="en-US" sz="1000" dirty="0"/>
          </a:p>
        </p:txBody>
      </p:sp>
      <p:sp>
        <p:nvSpPr>
          <p:cNvPr id="26" name="Text 24"/>
          <p:cNvSpPr/>
          <p:nvPr/>
        </p:nvSpPr>
        <p:spPr>
          <a:xfrm>
            <a:off x="3410712" y="5413248"/>
            <a:ext cx="2267712" cy="685800"/>
          </a:xfrm>
          <a:prstGeom prst="rect">
            <a:avLst/>
          </a:prstGeom>
          <a:noFill/>
          <a:ln/>
        </p:spPr>
        <p:txBody>
          <a:bodyPr wrap="square" lIns="0" tIns="0" rIns="0" bIns="0" rtlCol="0" anchor="ctr"/>
          <a:lstStyle/>
          <a:p>
            <a:pPr indent="0" marL="0">
              <a:buNone/>
            </a:pPr>
            <a:r>
              <a:rPr lang="en-US" sz="850" dirty="0">
                <a:solidFill>
                  <a:srgbClr val="8A93A6"/>
                </a:solidFill>
                <a:latin typeface="Verdana" pitchFamily="34" charset="0"/>
                <a:ea typeface="Verdana" pitchFamily="34" charset="-122"/>
                <a:cs typeface="Verdana" pitchFamily="34" charset="-120"/>
              </a:rPr>
              <a:t>Deep on facts, zero on lived culture or community voice</a:t>
            </a:r>
            <a:endParaRPr lang="en-US" sz="850" dirty="0"/>
          </a:p>
        </p:txBody>
      </p:sp>
      <p:sp>
        <p:nvSpPr>
          <p:cNvPr id="27" name="Shape 25"/>
          <p:cNvSpPr/>
          <p:nvPr/>
        </p:nvSpPr>
        <p:spPr>
          <a:xfrm>
            <a:off x="5998464" y="4937760"/>
            <a:ext cx="2542032" cy="1234440"/>
          </a:xfrm>
          <a:prstGeom prst="roundRect">
            <a:avLst>
              <a:gd name="adj" fmla="val 7407"/>
            </a:avLst>
          </a:prstGeom>
          <a:solidFill>
            <a:srgbClr val="1B2130"/>
          </a:solidFill>
          <a:ln w="6350">
            <a:solidFill>
              <a:srgbClr val="3A4152"/>
            </a:solidFill>
            <a:prstDash val="solid"/>
          </a:ln>
        </p:spPr>
        <p:txBody>
          <a:bodyPr/>
          <a:p/>
        </p:txBody>
      </p:sp>
      <p:sp>
        <p:nvSpPr>
          <p:cNvPr id="28" name="Text 26"/>
          <p:cNvSpPr/>
          <p:nvPr/>
        </p:nvSpPr>
        <p:spPr>
          <a:xfrm>
            <a:off x="6135624" y="5029200"/>
            <a:ext cx="2267712" cy="411480"/>
          </a:xfrm>
          <a:prstGeom prst="rect">
            <a:avLst/>
          </a:prstGeom>
          <a:noFill/>
          <a:ln/>
        </p:spPr>
        <p:txBody>
          <a:bodyPr wrap="square" lIns="0" tIns="0" rIns="0" bIns="0" rtlCol="0" anchor="ctr"/>
          <a:lstStyle/>
          <a:p>
            <a:pPr indent="0" marL="0">
              <a:buNone/>
            </a:pPr>
            <a:r>
              <a:rPr lang="en-US" sz="1000" b="1" dirty="0">
                <a:solidFill>
                  <a:srgbClr val="F5F0E6"/>
                </a:solidFill>
                <a:latin typeface="Verdana" pitchFamily="34" charset="0"/>
                <a:ea typeface="Verdana" pitchFamily="34" charset="-122"/>
                <a:cs typeface="Verdana" pitchFamily="34" charset="-120"/>
              </a:rPr>
              <a:t>Instagram / TikTok</a:t>
            </a:r>
            <a:endParaRPr lang="en-US" sz="1000" dirty="0"/>
          </a:p>
        </p:txBody>
      </p:sp>
      <p:sp>
        <p:nvSpPr>
          <p:cNvPr id="29" name="Text 27"/>
          <p:cNvSpPr/>
          <p:nvPr/>
        </p:nvSpPr>
        <p:spPr>
          <a:xfrm>
            <a:off x="6135624" y="5413248"/>
            <a:ext cx="2267712" cy="685800"/>
          </a:xfrm>
          <a:prstGeom prst="rect">
            <a:avLst/>
          </a:prstGeom>
          <a:noFill/>
          <a:ln/>
        </p:spPr>
        <p:txBody>
          <a:bodyPr wrap="square" lIns="0" tIns="0" rIns="0" bIns="0" rtlCol="0" anchor="ctr"/>
          <a:lstStyle/>
          <a:p>
            <a:pPr indent="0" marL="0">
              <a:buNone/>
            </a:pPr>
            <a:r>
              <a:rPr lang="en-US" sz="850" dirty="0">
                <a:solidFill>
                  <a:srgbClr val="8A93A6"/>
                </a:solidFill>
                <a:latin typeface="Verdana" pitchFamily="34" charset="0"/>
                <a:ea typeface="Verdana" pitchFamily="34" charset="-122"/>
                <a:cs typeface="Verdana" pitchFamily="34" charset="-120"/>
              </a:rPr>
              <a:t>Where discovery happens, but ephemeral &amp; unsearchable</a:t>
            </a:r>
            <a:endParaRPr lang="en-US" sz="850" dirty="0"/>
          </a:p>
        </p:txBody>
      </p:sp>
      <p:sp>
        <p:nvSpPr>
          <p:cNvPr id="30" name="Shape 28"/>
          <p:cNvSpPr/>
          <p:nvPr/>
        </p:nvSpPr>
        <p:spPr>
          <a:xfrm>
            <a:off x="8723376" y="4937760"/>
            <a:ext cx="2542032" cy="1234440"/>
          </a:xfrm>
          <a:prstGeom prst="roundRect">
            <a:avLst>
              <a:gd name="adj" fmla="val 7407"/>
            </a:avLst>
          </a:prstGeom>
          <a:solidFill>
            <a:srgbClr val="1B2130"/>
          </a:solidFill>
          <a:ln w="6350">
            <a:solidFill>
              <a:srgbClr val="3A4152"/>
            </a:solidFill>
            <a:prstDash val="solid"/>
          </a:ln>
        </p:spPr>
        <p:txBody>
          <a:bodyPr/>
          <a:p/>
        </p:txBody>
      </p:sp>
      <p:sp>
        <p:nvSpPr>
          <p:cNvPr id="31" name="Text 29"/>
          <p:cNvSpPr/>
          <p:nvPr/>
        </p:nvSpPr>
        <p:spPr>
          <a:xfrm>
            <a:off x="8860536" y="5029200"/>
            <a:ext cx="2267712" cy="411480"/>
          </a:xfrm>
          <a:prstGeom prst="rect">
            <a:avLst/>
          </a:prstGeom>
          <a:noFill/>
          <a:ln/>
        </p:spPr>
        <p:txBody>
          <a:bodyPr wrap="square" lIns="0" tIns="0" rIns="0" bIns="0" rtlCol="0" anchor="ctr"/>
          <a:lstStyle/>
          <a:p>
            <a:pPr indent="0" marL="0">
              <a:buNone/>
            </a:pPr>
            <a:r>
              <a:rPr lang="en-US" sz="1000" b="1" dirty="0">
                <a:solidFill>
                  <a:srgbClr val="F5F0E6"/>
                </a:solidFill>
                <a:latin typeface="Verdana" pitchFamily="34" charset="0"/>
                <a:ea typeface="Verdana" pitchFamily="34" charset="-122"/>
                <a:cs typeface="Verdana" pitchFamily="34" charset="-120"/>
              </a:rPr>
              <a:t>Bandsintown / Songkick</a:t>
            </a:r>
            <a:endParaRPr lang="en-US" sz="1000" dirty="0"/>
          </a:p>
        </p:txBody>
      </p:sp>
      <p:sp>
        <p:nvSpPr>
          <p:cNvPr id="32" name="Text 30"/>
          <p:cNvSpPr/>
          <p:nvPr/>
        </p:nvSpPr>
        <p:spPr>
          <a:xfrm>
            <a:off x="8860536" y="5413248"/>
            <a:ext cx="2267712" cy="685800"/>
          </a:xfrm>
          <a:prstGeom prst="rect">
            <a:avLst/>
          </a:prstGeom>
          <a:noFill/>
          <a:ln/>
        </p:spPr>
        <p:txBody>
          <a:bodyPr wrap="square" lIns="0" tIns="0" rIns="0" bIns="0" rtlCol="0" anchor="ctr"/>
          <a:lstStyle/>
          <a:p>
            <a:pPr indent="0" marL="0">
              <a:buNone/>
            </a:pPr>
            <a:r>
              <a:rPr lang="en-US" sz="850" dirty="0">
                <a:solidFill>
                  <a:srgbClr val="8A93A6"/>
                </a:solidFill>
                <a:latin typeface="Verdana" pitchFamily="34" charset="0"/>
                <a:ea typeface="Verdana" pitchFamily="34" charset="-122"/>
                <a:cs typeface="Verdana" pitchFamily="34" charset="-120"/>
              </a:rPr>
              <a:t>Artist-follow only — useless for a culture you haven't met</a:t>
            </a:r>
            <a:endParaRPr lang="en-US" sz="850" dirty="0"/>
          </a:p>
        </p:txBody>
      </p:sp>
      <p:sp>
        <p:nvSpPr>
          <p:cNvPr id="33" name="Text 31"/>
          <p:cNvSpPr/>
          <p:nvPr/>
        </p:nvSpPr>
        <p:spPr>
          <a:xfrm>
            <a:off x="457200" y="6473952"/>
            <a:ext cx="7315200" cy="274320"/>
          </a:xfrm>
          <a:prstGeom prst="rect">
            <a:avLst/>
          </a:prstGeom>
          <a:noFill/>
          <a:ln/>
        </p:spPr>
        <p:txBody>
          <a:bodyPr wrap="square" lIns="0" tIns="0" rIns="0" bIns="0" rtlCol="0" anchor="ctr"/>
          <a:lstStyle/>
          <a:p>
            <a:pPr indent="0" marL="0">
              <a:buNone/>
            </a:pPr>
            <a:r>
              <a:rPr lang="en-US" sz="900" dirty="0">
                <a:solidFill>
                  <a:srgbClr val="8A93A6"/>
                </a:solidFill>
                <a:latin typeface="Verdana" pitchFamily="34" charset="0"/>
                <a:ea typeface="Verdana" pitchFamily="34" charset="-122"/>
                <a:cs typeface="Verdana" pitchFamily="34" charset="-120"/>
              </a:rPr>
              <a:t>SLIDE 3 — DESIGN OPPORTUNITY &amp; CONCEPT</a:t>
            </a:r>
            <a:endParaRPr lang="en-US" sz="900" dirty="0"/>
          </a:p>
        </p:txBody>
      </p:sp>
      <p:sp>
        <p:nvSpPr>
          <p:cNvPr id="34" name="Text 32"/>
          <p:cNvSpPr/>
          <p:nvPr/>
        </p:nvSpPr>
        <p:spPr>
          <a:xfrm>
            <a:off x="8229600" y="6473952"/>
            <a:ext cx="3474720" cy="274320"/>
          </a:xfrm>
          <a:prstGeom prst="rect">
            <a:avLst/>
          </a:prstGeom>
          <a:noFill/>
          <a:ln/>
        </p:spPr>
        <p:txBody>
          <a:bodyPr wrap="square" lIns="0" tIns="0" rIns="0" bIns="0" rtlCol="0" anchor="ctr"/>
          <a:lstStyle/>
          <a:p>
            <a:pPr algn="r" indent="0" marL="0">
              <a:buNone/>
            </a:pPr>
            <a:r>
              <a:rPr lang="en-US" sz="900" spc="100" kern="0" dirty="0">
                <a:solidFill>
                  <a:srgbClr val="8A93A6"/>
                </a:solidFill>
                <a:latin typeface="Verdana" pitchFamily="34" charset="0"/>
                <a:ea typeface="Verdana" pitchFamily="34" charset="-122"/>
                <a:cs typeface="Verdana" pitchFamily="34" charset="-120"/>
              </a:rPr>
              <a:t>TEAM MOTIF · DECO3500</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0E6"/>
        </a:solidFill>
      </p:bgPr>
    </p:bg>
    <p:spTree>
      <p:nvGrpSpPr>
        <p:cNvPr id="1" name=""/>
        <p:cNvGrpSpPr/>
        <p:nvPr/>
      </p:nvGrpSpPr>
      <p:grpSpPr>
        <a:xfrm>
          <a:off x="0" y="0"/>
          <a:ext cx="0" cy="0"/>
          <a:chOff x="0" y="0"/>
          <a:chExt cx="0" cy="0"/>
        </a:xfrm>
      </p:grpSpPr>
      <p:sp>
        <p:nvSpPr>
          <p:cNvPr id="2" name="Text 0"/>
          <p:cNvSpPr/>
          <p:nvPr/>
        </p:nvSpPr>
        <p:spPr>
          <a:xfrm>
            <a:off x="548640" y="411480"/>
            <a:ext cx="7315200" cy="731520"/>
          </a:xfrm>
          <a:prstGeom prst="rect">
            <a:avLst/>
          </a:prstGeom>
          <a:noFill/>
          <a:ln/>
        </p:spPr>
        <p:txBody>
          <a:bodyPr wrap="square" lIns="0" tIns="0" rIns="0" bIns="0" rtlCol="0" anchor="ctr"/>
          <a:lstStyle/>
          <a:p>
            <a:pPr indent="0" marL="0">
              <a:buNone/>
            </a:pPr>
            <a:r>
              <a:rPr lang="en-US" sz="3200" b="1" dirty="0">
                <a:solidFill>
                  <a:srgbClr val="0D1117"/>
                </a:solidFill>
                <a:latin typeface="Trebuchet MS" pitchFamily="34" charset="0"/>
                <a:ea typeface="Trebuchet MS" pitchFamily="34" charset="-122"/>
                <a:cs typeface="Trebuchet MS" pitchFamily="34" charset="-120"/>
              </a:rPr>
              <a:t>Our audience</a:t>
            </a:r>
            <a:endParaRPr lang="en-US" sz="3200" dirty="0"/>
          </a:p>
        </p:txBody>
      </p:sp>
      <p:sp>
        <p:nvSpPr>
          <p:cNvPr id="3" name="Shape 1"/>
          <p:cNvSpPr/>
          <p:nvPr/>
        </p:nvSpPr>
        <p:spPr>
          <a:xfrm>
            <a:off x="548640" y="1051560"/>
            <a:ext cx="5029200" cy="0"/>
          </a:xfrm>
          <a:prstGeom prst="line">
            <a:avLst/>
          </a:prstGeom>
          <a:noFill/>
          <a:ln w="19050">
            <a:solidFill>
              <a:srgbClr val="E8663A"/>
            </a:solidFill>
            <a:prstDash val="solid"/>
          </a:ln>
        </p:spPr>
        <p:txBody>
          <a:bodyPr/>
          <a:p/>
        </p:txBody>
      </p:sp>
      <p:sp>
        <p:nvSpPr>
          <p:cNvPr id="4" name="Text 2"/>
          <p:cNvSpPr/>
          <p:nvPr/>
        </p:nvSpPr>
        <p:spPr>
          <a:xfrm>
            <a:off x="548640" y="1133856"/>
            <a:ext cx="10058400" cy="365760"/>
          </a:xfrm>
          <a:prstGeom prst="rect">
            <a:avLst/>
          </a:prstGeom>
          <a:noFill/>
          <a:ln/>
        </p:spPr>
        <p:txBody>
          <a:bodyPr wrap="square" lIns="0" tIns="0" rIns="0" bIns="0" rtlCol="0" anchor="ctr"/>
          <a:lstStyle/>
          <a:p>
            <a:pPr indent="0" marL="0">
              <a:buNone/>
            </a:pPr>
            <a:r>
              <a:rPr lang="en-US" sz="1250" i="1" dirty="0">
                <a:solidFill>
                  <a:srgbClr val="6B5F52"/>
                </a:solidFill>
                <a:latin typeface="Verdana" pitchFamily="34" charset="0"/>
                <a:ea typeface="Verdana" pitchFamily="34" charset="-122"/>
                <a:cs typeface="Verdana" pitchFamily="34" charset="-120"/>
              </a:rPr>
              <a:t>Grounded in 6 interviews across ages, professions and cultural backgrounds — not assumed personas.</a:t>
            </a:r>
            <a:endParaRPr lang="en-US" sz="1250" dirty="0"/>
          </a:p>
        </p:txBody>
      </p:sp>
      <p:sp>
        <p:nvSpPr>
          <p:cNvPr id="5" name="Shape 3"/>
          <p:cNvSpPr/>
          <p:nvPr/>
        </p:nvSpPr>
        <p:spPr>
          <a:xfrm>
            <a:off x="548640" y="1627632"/>
            <a:ext cx="1691640" cy="777240"/>
          </a:xfrm>
          <a:prstGeom prst="roundRect">
            <a:avLst>
              <a:gd name="adj" fmla="val 11765"/>
            </a:avLst>
          </a:prstGeom>
          <a:solidFill>
            <a:srgbClr val="0D1117"/>
          </a:solidFill>
          <a:ln w="9525">
            <a:solidFill>
              <a:srgbClr val="2AC9B8"/>
            </a:solidFill>
            <a:prstDash val="solid"/>
          </a:ln>
        </p:spPr>
        <p:txBody>
          <a:bodyPr/>
          <a:p/>
        </p:txBody>
      </p:sp>
      <p:sp>
        <p:nvSpPr>
          <p:cNvPr id="6" name="Text 4"/>
          <p:cNvSpPr/>
          <p:nvPr/>
        </p:nvSpPr>
        <p:spPr>
          <a:xfrm>
            <a:off x="621792" y="1691640"/>
            <a:ext cx="1545336" cy="320040"/>
          </a:xfrm>
          <a:prstGeom prst="rect">
            <a:avLst/>
          </a:prstGeom>
          <a:noFill/>
          <a:ln/>
        </p:spPr>
        <p:txBody>
          <a:bodyPr wrap="square" lIns="0" tIns="0" rIns="0" bIns="0" rtlCol="0" anchor="ctr"/>
          <a:lstStyle/>
          <a:p>
            <a:pPr algn="ctr" indent="0" marL="0">
              <a:buNone/>
            </a:pPr>
            <a:r>
              <a:rPr lang="en-US" sz="1100" b="1" dirty="0">
                <a:solidFill>
                  <a:srgbClr val="F5F0E6"/>
                </a:solidFill>
                <a:latin typeface="Trebuchet MS" pitchFamily="34" charset="0"/>
                <a:ea typeface="Trebuchet MS" pitchFamily="34" charset="-122"/>
                <a:cs typeface="Trebuchet MS" pitchFamily="34" charset="-120"/>
              </a:rPr>
              <a:t>R1-A</a:t>
            </a:r>
            <a:endParaRPr lang="en-US" sz="1100" dirty="0"/>
          </a:p>
        </p:txBody>
      </p:sp>
      <p:sp>
        <p:nvSpPr>
          <p:cNvPr id="7" name="Text 5"/>
          <p:cNvSpPr/>
          <p:nvPr/>
        </p:nvSpPr>
        <p:spPr>
          <a:xfrm>
            <a:off x="621792" y="2011680"/>
            <a:ext cx="1545336" cy="320040"/>
          </a:xfrm>
          <a:prstGeom prst="rect">
            <a:avLst/>
          </a:prstGeom>
          <a:noFill/>
          <a:ln/>
        </p:spPr>
        <p:txBody>
          <a:bodyPr wrap="square" lIns="0" tIns="0" rIns="0" bIns="0" rtlCol="0" anchor="ctr"/>
          <a:lstStyle/>
          <a:p>
            <a:pPr algn="ctr" indent="0" marL="0">
              <a:buNone/>
            </a:pPr>
            <a:r>
              <a:rPr lang="en-US" sz="800" dirty="0">
                <a:solidFill>
                  <a:srgbClr val="8A93A6"/>
                </a:solidFill>
                <a:latin typeface="Verdana" pitchFamily="34" charset="0"/>
                <a:ea typeface="Verdana" pitchFamily="34" charset="-122"/>
                <a:cs typeface="Verdana" pitchFamily="34" charset="-120"/>
              </a:rPr>
              <a:t>Ex-UQ grad</a:t>
            </a:r>
            <a:endParaRPr lang="en-US" sz="800" dirty="0"/>
          </a:p>
        </p:txBody>
      </p:sp>
      <p:sp>
        <p:nvSpPr>
          <p:cNvPr id="8" name="Shape 6"/>
          <p:cNvSpPr/>
          <p:nvPr/>
        </p:nvSpPr>
        <p:spPr>
          <a:xfrm>
            <a:off x="2404872" y="1627632"/>
            <a:ext cx="1691640" cy="777240"/>
          </a:xfrm>
          <a:prstGeom prst="roundRect">
            <a:avLst>
              <a:gd name="adj" fmla="val 11765"/>
            </a:avLst>
          </a:prstGeom>
          <a:solidFill>
            <a:srgbClr val="0D1117"/>
          </a:solidFill>
          <a:ln w="9525">
            <a:solidFill>
              <a:srgbClr val="E8663A"/>
            </a:solidFill>
            <a:prstDash val="solid"/>
          </a:ln>
        </p:spPr>
        <p:txBody>
          <a:bodyPr/>
          <a:p/>
        </p:txBody>
      </p:sp>
      <p:sp>
        <p:nvSpPr>
          <p:cNvPr id="9" name="Text 7"/>
          <p:cNvSpPr/>
          <p:nvPr/>
        </p:nvSpPr>
        <p:spPr>
          <a:xfrm>
            <a:off x="2478024" y="1691640"/>
            <a:ext cx="1545336" cy="320040"/>
          </a:xfrm>
          <a:prstGeom prst="rect">
            <a:avLst/>
          </a:prstGeom>
          <a:noFill/>
          <a:ln/>
        </p:spPr>
        <p:txBody>
          <a:bodyPr wrap="square" lIns="0" tIns="0" rIns="0" bIns="0" rtlCol="0" anchor="ctr"/>
          <a:lstStyle/>
          <a:p>
            <a:pPr algn="ctr" indent="0" marL="0">
              <a:buNone/>
            </a:pPr>
            <a:r>
              <a:rPr lang="en-US" sz="1100" b="1" dirty="0">
                <a:solidFill>
                  <a:srgbClr val="F5F0E6"/>
                </a:solidFill>
                <a:latin typeface="Trebuchet MS" pitchFamily="34" charset="0"/>
                <a:ea typeface="Trebuchet MS" pitchFamily="34" charset="-122"/>
                <a:cs typeface="Trebuchet MS" pitchFamily="34" charset="-120"/>
              </a:rPr>
              <a:t>R1-B</a:t>
            </a:r>
            <a:endParaRPr lang="en-US" sz="1100" dirty="0"/>
          </a:p>
        </p:txBody>
      </p:sp>
      <p:sp>
        <p:nvSpPr>
          <p:cNvPr id="10" name="Text 8"/>
          <p:cNvSpPr/>
          <p:nvPr/>
        </p:nvSpPr>
        <p:spPr>
          <a:xfrm>
            <a:off x="2478024" y="2011680"/>
            <a:ext cx="1545336" cy="320040"/>
          </a:xfrm>
          <a:prstGeom prst="rect">
            <a:avLst/>
          </a:prstGeom>
          <a:noFill/>
          <a:ln/>
        </p:spPr>
        <p:txBody>
          <a:bodyPr wrap="square" lIns="0" tIns="0" rIns="0" bIns="0" rtlCol="0" anchor="ctr"/>
          <a:lstStyle/>
          <a:p>
            <a:pPr algn="ctr" indent="0" marL="0">
              <a:buNone/>
            </a:pPr>
            <a:r>
              <a:rPr lang="en-US" sz="800" dirty="0">
                <a:solidFill>
                  <a:srgbClr val="8A93A6"/>
                </a:solidFill>
                <a:latin typeface="Verdana" pitchFamily="34" charset="0"/>
                <a:ea typeface="Verdana" pitchFamily="34" charset="-122"/>
                <a:cs typeface="Verdana" pitchFamily="34" charset="-120"/>
              </a:rPr>
              <a:t>Ex-UQ, industry</a:t>
            </a:r>
            <a:endParaRPr lang="en-US" sz="800" dirty="0"/>
          </a:p>
        </p:txBody>
      </p:sp>
      <p:sp>
        <p:nvSpPr>
          <p:cNvPr id="11" name="Shape 9"/>
          <p:cNvSpPr/>
          <p:nvPr/>
        </p:nvSpPr>
        <p:spPr>
          <a:xfrm>
            <a:off x="4261104" y="1627632"/>
            <a:ext cx="1691640" cy="777240"/>
          </a:xfrm>
          <a:prstGeom prst="roundRect">
            <a:avLst>
              <a:gd name="adj" fmla="val 11765"/>
            </a:avLst>
          </a:prstGeom>
          <a:solidFill>
            <a:srgbClr val="0D1117"/>
          </a:solidFill>
          <a:ln w="9525">
            <a:solidFill>
              <a:srgbClr val="F0447E"/>
            </a:solidFill>
            <a:prstDash val="solid"/>
          </a:ln>
        </p:spPr>
        <p:txBody>
          <a:bodyPr/>
          <a:p/>
        </p:txBody>
      </p:sp>
      <p:sp>
        <p:nvSpPr>
          <p:cNvPr id="12" name="Text 10"/>
          <p:cNvSpPr/>
          <p:nvPr/>
        </p:nvSpPr>
        <p:spPr>
          <a:xfrm>
            <a:off x="4334256" y="1691640"/>
            <a:ext cx="1545336" cy="320040"/>
          </a:xfrm>
          <a:prstGeom prst="rect">
            <a:avLst/>
          </a:prstGeom>
          <a:noFill/>
          <a:ln/>
        </p:spPr>
        <p:txBody>
          <a:bodyPr wrap="square" lIns="0" tIns="0" rIns="0" bIns="0" rtlCol="0" anchor="ctr"/>
          <a:lstStyle/>
          <a:p>
            <a:pPr algn="ctr" indent="0" marL="0">
              <a:buNone/>
            </a:pPr>
            <a:r>
              <a:rPr lang="en-US" sz="1100" b="1" dirty="0">
                <a:solidFill>
                  <a:srgbClr val="F5F0E6"/>
                </a:solidFill>
                <a:latin typeface="Trebuchet MS" pitchFamily="34" charset="0"/>
                <a:ea typeface="Trebuchet MS" pitchFamily="34" charset="-122"/>
                <a:cs typeface="Trebuchet MS" pitchFamily="34" charset="-120"/>
              </a:rPr>
              <a:t>R1-C</a:t>
            </a:r>
            <a:endParaRPr lang="en-US" sz="1100" dirty="0"/>
          </a:p>
        </p:txBody>
      </p:sp>
      <p:sp>
        <p:nvSpPr>
          <p:cNvPr id="13" name="Text 11"/>
          <p:cNvSpPr/>
          <p:nvPr/>
        </p:nvSpPr>
        <p:spPr>
          <a:xfrm>
            <a:off x="4334256" y="2011680"/>
            <a:ext cx="1545336" cy="320040"/>
          </a:xfrm>
          <a:prstGeom prst="rect">
            <a:avLst/>
          </a:prstGeom>
          <a:noFill/>
          <a:ln/>
        </p:spPr>
        <p:txBody>
          <a:bodyPr wrap="square" lIns="0" tIns="0" rIns="0" bIns="0" rtlCol="0" anchor="ctr"/>
          <a:lstStyle/>
          <a:p>
            <a:pPr algn="ctr" indent="0" marL="0">
              <a:buNone/>
            </a:pPr>
            <a:r>
              <a:rPr lang="en-US" sz="800" dirty="0">
                <a:solidFill>
                  <a:srgbClr val="8A93A6"/>
                </a:solidFill>
                <a:latin typeface="Verdana" pitchFamily="34" charset="0"/>
                <a:ea typeface="Verdana" pitchFamily="34" charset="-122"/>
                <a:cs typeface="Verdana" pitchFamily="34" charset="-120"/>
              </a:rPr>
              <a:t>Resident Doctor</a:t>
            </a:r>
            <a:endParaRPr lang="en-US" sz="800" dirty="0"/>
          </a:p>
        </p:txBody>
      </p:sp>
      <p:sp>
        <p:nvSpPr>
          <p:cNvPr id="14" name="Shape 12"/>
          <p:cNvSpPr/>
          <p:nvPr/>
        </p:nvSpPr>
        <p:spPr>
          <a:xfrm>
            <a:off x="6117336" y="1627632"/>
            <a:ext cx="1691640" cy="777240"/>
          </a:xfrm>
          <a:prstGeom prst="roundRect">
            <a:avLst>
              <a:gd name="adj" fmla="val 11765"/>
            </a:avLst>
          </a:prstGeom>
          <a:solidFill>
            <a:srgbClr val="0D1117"/>
          </a:solidFill>
          <a:ln w="9525">
            <a:solidFill>
              <a:srgbClr val="2AC9B8"/>
            </a:solidFill>
            <a:prstDash val="solid"/>
          </a:ln>
        </p:spPr>
        <p:txBody>
          <a:bodyPr/>
          <a:p/>
        </p:txBody>
      </p:sp>
      <p:sp>
        <p:nvSpPr>
          <p:cNvPr id="15" name="Text 13"/>
          <p:cNvSpPr/>
          <p:nvPr/>
        </p:nvSpPr>
        <p:spPr>
          <a:xfrm>
            <a:off x="6190488" y="1691640"/>
            <a:ext cx="1545336" cy="320040"/>
          </a:xfrm>
          <a:prstGeom prst="rect">
            <a:avLst/>
          </a:prstGeom>
          <a:noFill/>
          <a:ln/>
        </p:spPr>
        <p:txBody>
          <a:bodyPr wrap="square" lIns="0" tIns="0" rIns="0" bIns="0" rtlCol="0" anchor="ctr"/>
          <a:lstStyle/>
          <a:p>
            <a:pPr algn="ctr" indent="0" marL="0">
              <a:buNone/>
            </a:pPr>
            <a:r>
              <a:rPr lang="en-US" sz="1100" b="1" dirty="0">
                <a:solidFill>
                  <a:srgbClr val="F5F0E6"/>
                </a:solidFill>
                <a:latin typeface="Trebuchet MS" pitchFamily="34" charset="0"/>
                <a:ea typeface="Trebuchet MS" pitchFamily="34" charset="-122"/>
                <a:cs typeface="Trebuchet MS" pitchFamily="34" charset="-120"/>
              </a:rPr>
              <a:t>R1-D</a:t>
            </a:r>
            <a:endParaRPr lang="en-US" sz="1100" dirty="0"/>
          </a:p>
        </p:txBody>
      </p:sp>
      <p:sp>
        <p:nvSpPr>
          <p:cNvPr id="16" name="Text 14"/>
          <p:cNvSpPr/>
          <p:nvPr/>
        </p:nvSpPr>
        <p:spPr>
          <a:xfrm>
            <a:off x="6190488" y="2011680"/>
            <a:ext cx="1545336" cy="320040"/>
          </a:xfrm>
          <a:prstGeom prst="rect">
            <a:avLst/>
          </a:prstGeom>
          <a:noFill/>
          <a:ln/>
        </p:spPr>
        <p:txBody>
          <a:bodyPr wrap="square" lIns="0" tIns="0" rIns="0" bIns="0" rtlCol="0" anchor="ctr"/>
          <a:lstStyle/>
          <a:p>
            <a:pPr algn="ctr" indent="0" marL="0">
              <a:buNone/>
            </a:pPr>
            <a:r>
              <a:rPr lang="en-US" sz="800" dirty="0">
                <a:solidFill>
                  <a:srgbClr val="8A93A6"/>
                </a:solidFill>
                <a:latin typeface="Verdana" pitchFamily="34" charset="0"/>
                <a:ea typeface="Verdana" pitchFamily="34" charset="-122"/>
                <a:cs typeface="Verdana" pitchFamily="34" charset="-120"/>
              </a:rPr>
              <a:t>1st-yr Econ student</a:t>
            </a:r>
            <a:endParaRPr lang="en-US" sz="800" dirty="0"/>
          </a:p>
        </p:txBody>
      </p:sp>
      <p:sp>
        <p:nvSpPr>
          <p:cNvPr id="17" name="Shape 15"/>
          <p:cNvSpPr/>
          <p:nvPr/>
        </p:nvSpPr>
        <p:spPr>
          <a:xfrm>
            <a:off x="7973568" y="1627632"/>
            <a:ext cx="1691640" cy="777240"/>
          </a:xfrm>
          <a:prstGeom prst="roundRect">
            <a:avLst>
              <a:gd name="adj" fmla="val 11765"/>
            </a:avLst>
          </a:prstGeom>
          <a:solidFill>
            <a:srgbClr val="0D1117"/>
          </a:solidFill>
          <a:ln w="9525">
            <a:solidFill>
              <a:srgbClr val="E8663A"/>
            </a:solidFill>
            <a:prstDash val="solid"/>
          </a:ln>
        </p:spPr>
        <p:txBody>
          <a:bodyPr/>
          <a:p/>
        </p:txBody>
      </p:sp>
      <p:sp>
        <p:nvSpPr>
          <p:cNvPr id="18" name="Text 16"/>
          <p:cNvSpPr/>
          <p:nvPr/>
        </p:nvSpPr>
        <p:spPr>
          <a:xfrm>
            <a:off x="8046720" y="1691640"/>
            <a:ext cx="1545336" cy="320040"/>
          </a:xfrm>
          <a:prstGeom prst="rect">
            <a:avLst/>
          </a:prstGeom>
          <a:noFill/>
          <a:ln/>
        </p:spPr>
        <p:txBody>
          <a:bodyPr wrap="square" lIns="0" tIns="0" rIns="0" bIns="0" rtlCol="0" anchor="ctr"/>
          <a:lstStyle/>
          <a:p>
            <a:pPr algn="ctr" indent="0" marL="0">
              <a:buNone/>
            </a:pPr>
            <a:r>
              <a:rPr lang="en-US" sz="1100" b="1" dirty="0">
                <a:solidFill>
                  <a:srgbClr val="F5F0E6"/>
                </a:solidFill>
                <a:latin typeface="Trebuchet MS" pitchFamily="34" charset="0"/>
                <a:ea typeface="Trebuchet MS" pitchFamily="34" charset="-122"/>
                <a:cs typeface="Trebuchet MS" pitchFamily="34" charset="-120"/>
              </a:rPr>
              <a:t>R1-E</a:t>
            </a:r>
            <a:endParaRPr lang="en-US" sz="1100" dirty="0"/>
          </a:p>
        </p:txBody>
      </p:sp>
      <p:sp>
        <p:nvSpPr>
          <p:cNvPr id="19" name="Text 17"/>
          <p:cNvSpPr/>
          <p:nvPr/>
        </p:nvSpPr>
        <p:spPr>
          <a:xfrm>
            <a:off x="8046720" y="2011680"/>
            <a:ext cx="1545336" cy="320040"/>
          </a:xfrm>
          <a:prstGeom prst="rect">
            <a:avLst/>
          </a:prstGeom>
          <a:noFill/>
          <a:ln/>
        </p:spPr>
        <p:txBody>
          <a:bodyPr wrap="square" lIns="0" tIns="0" rIns="0" bIns="0" rtlCol="0" anchor="ctr"/>
          <a:lstStyle/>
          <a:p>
            <a:pPr algn="ctr" indent="0" marL="0">
              <a:buNone/>
            </a:pPr>
            <a:r>
              <a:rPr lang="en-US" sz="800" dirty="0">
                <a:solidFill>
                  <a:srgbClr val="8A93A6"/>
                </a:solidFill>
                <a:latin typeface="Verdana" pitchFamily="34" charset="0"/>
                <a:ea typeface="Verdana" pitchFamily="34" charset="-122"/>
                <a:cs typeface="Verdana" pitchFamily="34" charset="-120"/>
              </a:rPr>
              <a:t>Business student</a:t>
            </a:r>
            <a:endParaRPr lang="en-US" sz="800" dirty="0"/>
          </a:p>
        </p:txBody>
      </p:sp>
      <p:sp>
        <p:nvSpPr>
          <p:cNvPr id="20" name="Shape 18"/>
          <p:cNvSpPr/>
          <p:nvPr/>
        </p:nvSpPr>
        <p:spPr>
          <a:xfrm>
            <a:off x="9829800" y="1627632"/>
            <a:ext cx="1691640" cy="777240"/>
          </a:xfrm>
          <a:prstGeom prst="roundRect">
            <a:avLst>
              <a:gd name="adj" fmla="val 11765"/>
            </a:avLst>
          </a:prstGeom>
          <a:solidFill>
            <a:srgbClr val="0D1117"/>
          </a:solidFill>
          <a:ln w="9525">
            <a:solidFill>
              <a:srgbClr val="F0447E"/>
            </a:solidFill>
            <a:prstDash val="solid"/>
          </a:ln>
        </p:spPr>
        <p:txBody>
          <a:bodyPr/>
          <a:p/>
        </p:txBody>
      </p:sp>
      <p:sp>
        <p:nvSpPr>
          <p:cNvPr id="21" name="Text 19"/>
          <p:cNvSpPr/>
          <p:nvPr/>
        </p:nvSpPr>
        <p:spPr>
          <a:xfrm>
            <a:off x="9902952" y="1691640"/>
            <a:ext cx="1545336" cy="320040"/>
          </a:xfrm>
          <a:prstGeom prst="rect">
            <a:avLst/>
          </a:prstGeom>
          <a:noFill/>
          <a:ln/>
        </p:spPr>
        <p:txBody>
          <a:bodyPr wrap="square" lIns="0" tIns="0" rIns="0" bIns="0" rtlCol="0" anchor="ctr"/>
          <a:lstStyle/>
          <a:p>
            <a:pPr algn="ctr" indent="0" marL="0">
              <a:buNone/>
            </a:pPr>
            <a:r>
              <a:rPr lang="en-US" sz="1100" b="1" dirty="0">
                <a:solidFill>
                  <a:srgbClr val="F5F0E6"/>
                </a:solidFill>
                <a:latin typeface="Trebuchet MS" pitchFamily="34" charset="0"/>
                <a:ea typeface="Trebuchet MS" pitchFamily="34" charset="-122"/>
                <a:cs typeface="Trebuchet MS" pitchFamily="34" charset="-120"/>
              </a:rPr>
              <a:t>R1-F</a:t>
            </a:r>
            <a:endParaRPr lang="en-US" sz="1100" dirty="0"/>
          </a:p>
        </p:txBody>
      </p:sp>
      <p:sp>
        <p:nvSpPr>
          <p:cNvPr id="22" name="Text 20"/>
          <p:cNvSpPr/>
          <p:nvPr/>
        </p:nvSpPr>
        <p:spPr>
          <a:xfrm>
            <a:off x="9902952" y="2011680"/>
            <a:ext cx="1545336" cy="320040"/>
          </a:xfrm>
          <a:prstGeom prst="rect">
            <a:avLst/>
          </a:prstGeom>
          <a:noFill/>
          <a:ln/>
        </p:spPr>
        <p:txBody>
          <a:bodyPr wrap="square" lIns="0" tIns="0" rIns="0" bIns="0" rtlCol="0" anchor="ctr"/>
          <a:lstStyle/>
          <a:p>
            <a:pPr algn="ctr" indent="0" marL="0">
              <a:buNone/>
            </a:pPr>
            <a:r>
              <a:rPr lang="en-US" sz="800" dirty="0">
                <a:solidFill>
                  <a:srgbClr val="8A93A6"/>
                </a:solidFill>
                <a:latin typeface="Verdana" pitchFamily="34" charset="0"/>
                <a:ea typeface="Verdana" pitchFamily="34" charset="-122"/>
                <a:cs typeface="Verdana" pitchFamily="34" charset="-120"/>
              </a:rPr>
              <a:t>28, India</a:t>
            </a:r>
            <a:endParaRPr lang="en-US" sz="800" dirty="0"/>
          </a:p>
        </p:txBody>
      </p:sp>
      <p:sp>
        <p:nvSpPr>
          <p:cNvPr id="23" name="Shape 21"/>
          <p:cNvSpPr/>
          <p:nvPr/>
        </p:nvSpPr>
        <p:spPr>
          <a:xfrm>
            <a:off x="548640" y="2697480"/>
            <a:ext cx="5212080" cy="1691640"/>
          </a:xfrm>
          <a:prstGeom prst="roundRect">
            <a:avLst>
              <a:gd name="adj" fmla="val 5405"/>
            </a:avLst>
          </a:prstGeom>
          <a:solidFill>
            <a:srgbClr val="0D1117"/>
          </a:solidFill>
          <a:ln w="9525">
            <a:solidFill>
              <a:srgbClr val="2AC9B8"/>
            </a:solidFill>
            <a:prstDash val="solid"/>
          </a:ln>
        </p:spPr>
        <p:txBody>
          <a:bodyPr/>
          <a:p/>
        </p:txBody>
      </p:sp>
      <p:sp>
        <p:nvSpPr>
          <p:cNvPr id="24" name="Text 22"/>
          <p:cNvSpPr/>
          <p:nvPr/>
        </p:nvSpPr>
        <p:spPr>
          <a:xfrm>
            <a:off x="777240" y="2834640"/>
            <a:ext cx="3657600" cy="274320"/>
          </a:xfrm>
          <a:prstGeom prst="rect">
            <a:avLst/>
          </a:prstGeom>
          <a:noFill/>
          <a:ln/>
        </p:spPr>
        <p:txBody>
          <a:bodyPr wrap="square" lIns="0" tIns="0" rIns="0" bIns="0" rtlCol="0" anchor="ctr"/>
          <a:lstStyle/>
          <a:p>
            <a:pPr indent="0" marL="0">
              <a:buNone/>
            </a:pPr>
            <a:r>
              <a:rPr lang="en-US" sz="1150" b="1" spc="50" kern="0" dirty="0">
                <a:solidFill>
                  <a:srgbClr val="2AC9B8"/>
                </a:solidFill>
                <a:latin typeface="Trebuchet MS" pitchFamily="34" charset="0"/>
                <a:ea typeface="Trebuchet MS" pitchFamily="34" charset="-122"/>
                <a:cs typeface="Trebuchet MS" pitchFamily="34" charset="-120"/>
              </a:rPr>
              <a:t>VALUES</a:t>
            </a:r>
            <a:endParaRPr lang="en-US" sz="1150" dirty="0"/>
          </a:p>
        </p:txBody>
      </p:sp>
      <p:sp>
        <p:nvSpPr>
          <p:cNvPr id="25" name="Text 23"/>
          <p:cNvSpPr/>
          <p:nvPr/>
        </p:nvSpPr>
        <p:spPr>
          <a:xfrm>
            <a:off x="777240" y="3154680"/>
            <a:ext cx="4754880" cy="1143000"/>
          </a:xfrm>
          <a:prstGeom prst="rect">
            <a:avLst/>
          </a:prstGeom>
          <a:noFill/>
          <a:ln/>
        </p:spPr>
        <p:txBody>
          <a:bodyPr wrap="square" lIns="0" tIns="0" rIns="0" bIns="0" rtlCol="0" anchor="ctr"/>
          <a:lstStyle/>
          <a:p>
            <a:pPr indent="0" marL="0">
              <a:buNone/>
            </a:pPr>
            <a:r>
              <a:rPr lang="en-US" sz="1050" dirty="0">
                <a:solidFill>
                  <a:srgbClr val="F5F0E6"/>
                </a:solidFill>
                <a:latin typeface="Verdana" pitchFamily="34" charset="0"/>
                <a:ea typeface="Verdana" pitchFamily="34" charset="-122"/>
                <a:cs typeface="Verdana" pitchFamily="34" charset="-120"/>
              </a:rPr>
              <a:t>Authorship over their own taste. Community-curated over algorithmic.</a:t>
            </a:r>
            <a:endParaRPr lang="en-US" sz="1050" dirty="0"/>
          </a:p>
        </p:txBody>
      </p:sp>
      <p:sp>
        <p:nvSpPr>
          <p:cNvPr id="26" name="Shape 24"/>
          <p:cNvSpPr/>
          <p:nvPr/>
        </p:nvSpPr>
        <p:spPr>
          <a:xfrm>
            <a:off x="6035040" y="2697480"/>
            <a:ext cx="5212080" cy="1691640"/>
          </a:xfrm>
          <a:prstGeom prst="roundRect">
            <a:avLst>
              <a:gd name="adj" fmla="val 5405"/>
            </a:avLst>
          </a:prstGeom>
          <a:solidFill>
            <a:srgbClr val="0D1117"/>
          </a:solidFill>
          <a:ln w="9525">
            <a:solidFill>
              <a:srgbClr val="E8663A"/>
            </a:solidFill>
            <a:prstDash val="solid"/>
          </a:ln>
        </p:spPr>
        <p:txBody>
          <a:bodyPr/>
          <a:p/>
        </p:txBody>
      </p:sp>
      <p:sp>
        <p:nvSpPr>
          <p:cNvPr id="27" name="Text 25"/>
          <p:cNvSpPr/>
          <p:nvPr/>
        </p:nvSpPr>
        <p:spPr>
          <a:xfrm>
            <a:off x="6263640" y="2834640"/>
            <a:ext cx="3657600" cy="274320"/>
          </a:xfrm>
          <a:prstGeom prst="rect">
            <a:avLst/>
          </a:prstGeom>
          <a:noFill/>
          <a:ln/>
        </p:spPr>
        <p:txBody>
          <a:bodyPr wrap="square" lIns="0" tIns="0" rIns="0" bIns="0" rtlCol="0" anchor="ctr"/>
          <a:lstStyle/>
          <a:p>
            <a:pPr indent="0" marL="0">
              <a:buNone/>
            </a:pPr>
            <a:r>
              <a:rPr lang="en-US" sz="1150" b="1" spc="50" kern="0" dirty="0">
                <a:solidFill>
                  <a:srgbClr val="E8663A"/>
                </a:solidFill>
                <a:latin typeface="Trebuchet MS" pitchFamily="34" charset="0"/>
                <a:ea typeface="Trebuchet MS" pitchFamily="34" charset="-122"/>
                <a:cs typeface="Trebuchet MS" pitchFamily="34" charset="-120"/>
              </a:rPr>
              <a:t>WORKFLOWS</a:t>
            </a:r>
            <a:endParaRPr lang="en-US" sz="1150" dirty="0"/>
          </a:p>
        </p:txBody>
      </p:sp>
      <p:sp>
        <p:nvSpPr>
          <p:cNvPr id="28" name="Text 26"/>
          <p:cNvSpPr/>
          <p:nvPr/>
        </p:nvSpPr>
        <p:spPr>
          <a:xfrm>
            <a:off x="6263640" y="3154680"/>
            <a:ext cx="4754880" cy="1143000"/>
          </a:xfrm>
          <a:prstGeom prst="rect">
            <a:avLst/>
          </a:prstGeom>
          <a:noFill/>
          <a:ln/>
        </p:spPr>
        <p:txBody>
          <a:bodyPr wrap="square" lIns="0" tIns="0" rIns="0" bIns="0" rtlCol="0" anchor="ctr"/>
          <a:lstStyle/>
          <a:p>
            <a:pPr indent="0" marL="0">
              <a:buNone/>
            </a:pPr>
            <a:r>
              <a:rPr lang="en-US" sz="1050" dirty="0">
                <a:solidFill>
                  <a:srgbClr val="F5F0E6"/>
                </a:solidFill>
                <a:latin typeface="Verdana" pitchFamily="34" charset="0"/>
                <a:ea typeface="Verdana" pitchFamily="34" charset="-122"/>
                <a:cs typeface="Verdana" pitchFamily="34" charset="-120"/>
              </a:rPr>
              <a:t>Screenshot, group chat, forget. Discovery dies in the camera roll.</a:t>
            </a:r>
            <a:endParaRPr lang="en-US" sz="1050" dirty="0"/>
          </a:p>
        </p:txBody>
      </p:sp>
      <p:sp>
        <p:nvSpPr>
          <p:cNvPr id="29" name="Shape 27"/>
          <p:cNvSpPr/>
          <p:nvPr/>
        </p:nvSpPr>
        <p:spPr>
          <a:xfrm>
            <a:off x="548640" y="4572000"/>
            <a:ext cx="5212080" cy="1691640"/>
          </a:xfrm>
          <a:prstGeom prst="roundRect">
            <a:avLst>
              <a:gd name="adj" fmla="val 5405"/>
            </a:avLst>
          </a:prstGeom>
          <a:solidFill>
            <a:srgbClr val="0D1117"/>
          </a:solidFill>
          <a:ln w="9525">
            <a:solidFill>
              <a:srgbClr val="F0447E"/>
            </a:solidFill>
            <a:prstDash val="solid"/>
          </a:ln>
        </p:spPr>
        <p:txBody>
          <a:bodyPr/>
          <a:p/>
        </p:txBody>
      </p:sp>
      <p:sp>
        <p:nvSpPr>
          <p:cNvPr id="30" name="Text 28"/>
          <p:cNvSpPr/>
          <p:nvPr/>
        </p:nvSpPr>
        <p:spPr>
          <a:xfrm>
            <a:off x="777240" y="4709160"/>
            <a:ext cx="3657600" cy="274320"/>
          </a:xfrm>
          <a:prstGeom prst="rect">
            <a:avLst/>
          </a:prstGeom>
          <a:noFill/>
          <a:ln/>
        </p:spPr>
        <p:txBody>
          <a:bodyPr wrap="square" lIns="0" tIns="0" rIns="0" bIns="0" rtlCol="0" anchor="ctr"/>
          <a:lstStyle/>
          <a:p>
            <a:pPr indent="0" marL="0">
              <a:buNone/>
            </a:pPr>
            <a:r>
              <a:rPr lang="en-US" sz="1150" b="1" spc="50" kern="0" dirty="0">
                <a:solidFill>
                  <a:srgbClr val="F0447E"/>
                </a:solidFill>
                <a:latin typeface="Trebuchet MS" pitchFamily="34" charset="0"/>
                <a:ea typeface="Trebuchet MS" pitchFamily="34" charset="-122"/>
                <a:cs typeface="Trebuchet MS" pitchFamily="34" charset="-120"/>
              </a:rPr>
              <a:t>SKILLS</a:t>
            </a:r>
            <a:endParaRPr lang="en-US" sz="1150" dirty="0"/>
          </a:p>
        </p:txBody>
      </p:sp>
      <p:sp>
        <p:nvSpPr>
          <p:cNvPr id="31" name="Text 29"/>
          <p:cNvSpPr/>
          <p:nvPr/>
        </p:nvSpPr>
        <p:spPr>
          <a:xfrm>
            <a:off x="777240" y="5029200"/>
            <a:ext cx="4754880" cy="1143000"/>
          </a:xfrm>
          <a:prstGeom prst="rect">
            <a:avLst/>
          </a:prstGeom>
          <a:noFill/>
          <a:ln/>
        </p:spPr>
        <p:txBody>
          <a:bodyPr wrap="square" lIns="0" tIns="0" rIns="0" bIns="0" rtlCol="0" anchor="ctr"/>
          <a:lstStyle/>
          <a:p>
            <a:pPr indent="0" marL="0">
              <a:buNone/>
            </a:pPr>
            <a:r>
              <a:rPr lang="en-US" sz="1050" dirty="0">
                <a:solidFill>
                  <a:srgbClr val="F5F0E6"/>
                </a:solidFill>
                <a:latin typeface="Verdana" pitchFamily="34" charset="0"/>
                <a:ea typeface="Verdana" pitchFamily="34" charset="-122"/>
                <a:cs typeface="Verdana" pitchFamily="34" charset="-120"/>
              </a:rPr>
              <a:t>Fluent across four apps at once; expert curators with no single tool.</a:t>
            </a:r>
            <a:endParaRPr lang="en-US" sz="1050" dirty="0"/>
          </a:p>
        </p:txBody>
      </p:sp>
      <p:sp>
        <p:nvSpPr>
          <p:cNvPr id="32" name="Shape 30"/>
          <p:cNvSpPr/>
          <p:nvPr/>
        </p:nvSpPr>
        <p:spPr>
          <a:xfrm>
            <a:off x="6035040" y="4572000"/>
            <a:ext cx="5212080" cy="1691640"/>
          </a:xfrm>
          <a:prstGeom prst="roundRect">
            <a:avLst>
              <a:gd name="adj" fmla="val 5405"/>
            </a:avLst>
          </a:prstGeom>
          <a:solidFill>
            <a:srgbClr val="0D1117"/>
          </a:solidFill>
          <a:ln w="9525">
            <a:solidFill>
              <a:srgbClr val="2AC9B8"/>
            </a:solidFill>
            <a:prstDash val="solid"/>
          </a:ln>
        </p:spPr>
        <p:txBody>
          <a:bodyPr/>
          <a:p/>
        </p:txBody>
      </p:sp>
      <p:sp>
        <p:nvSpPr>
          <p:cNvPr id="33" name="Text 31"/>
          <p:cNvSpPr/>
          <p:nvPr/>
        </p:nvSpPr>
        <p:spPr>
          <a:xfrm>
            <a:off x="6263640" y="4709160"/>
            <a:ext cx="3657600" cy="274320"/>
          </a:xfrm>
          <a:prstGeom prst="rect">
            <a:avLst/>
          </a:prstGeom>
          <a:noFill/>
          <a:ln/>
        </p:spPr>
        <p:txBody>
          <a:bodyPr wrap="square" lIns="0" tIns="0" rIns="0" bIns="0" rtlCol="0" anchor="ctr"/>
          <a:lstStyle/>
          <a:p>
            <a:pPr indent="0" marL="0">
              <a:buNone/>
            </a:pPr>
            <a:r>
              <a:rPr lang="en-US" sz="1150" b="1" spc="50" kern="0" dirty="0">
                <a:solidFill>
                  <a:srgbClr val="2AC9B8"/>
                </a:solidFill>
                <a:latin typeface="Trebuchet MS" pitchFamily="34" charset="0"/>
                <a:ea typeface="Trebuchet MS" pitchFamily="34" charset="-122"/>
                <a:cs typeface="Trebuchet MS" pitchFamily="34" charset="-120"/>
              </a:rPr>
              <a:t>PRIORITIES</a:t>
            </a:r>
            <a:endParaRPr lang="en-US" sz="1150" dirty="0"/>
          </a:p>
        </p:txBody>
      </p:sp>
      <p:sp>
        <p:nvSpPr>
          <p:cNvPr id="34" name="Text 32"/>
          <p:cNvSpPr/>
          <p:nvPr/>
        </p:nvSpPr>
        <p:spPr>
          <a:xfrm>
            <a:off x="6263640" y="5029200"/>
            <a:ext cx="4754880" cy="1143000"/>
          </a:xfrm>
          <a:prstGeom prst="rect">
            <a:avLst/>
          </a:prstGeom>
          <a:noFill/>
          <a:ln/>
        </p:spPr>
        <p:txBody>
          <a:bodyPr wrap="square" lIns="0" tIns="0" rIns="0" bIns="0" rtlCol="0" anchor="ctr"/>
          <a:lstStyle/>
          <a:p>
            <a:pPr indent="0" marL="0">
              <a:buNone/>
            </a:pPr>
            <a:r>
              <a:rPr lang="en-US" sz="1050" dirty="0">
                <a:solidFill>
                  <a:srgbClr val="F5F0E6"/>
                </a:solidFill>
                <a:latin typeface="Verdana" pitchFamily="34" charset="0"/>
                <a:ea typeface="Verdana" pitchFamily="34" charset="-122"/>
                <a:cs typeface="Verdana" pitchFamily="34" charset="-120"/>
              </a:rPr>
              <a:t>Low effort daily, high effort for an occasion. Local beats broad.</a:t>
            </a:r>
            <a:endParaRPr lang="en-US" sz="1050" dirty="0"/>
          </a:p>
        </p:txBody>
      </p:sp>
      <p:sp>
        <p:nvSpPr>
          <p:cNvPr id="35" name="Text 33"/>
          <p:cNvSpPr/>
          <p:nvPr/>
        </p:nvSpPr>
        <p:spPr>
          <a:xfrm>
            <a:off x="457200" y="6473952"/>
            <a:ext cx="7315200" cy="274320"/>
          </a:xfrm>
          <a:prstGeom prst="rect">
            <a:avLst/>
          </a:prstGeom>
          <a:noFill/>
          <a:ln/>
        </p:spPr>
        <p:txBody>
          <a:bodyPr wrap="square" lIns="0" tIns="0" rIns="0" bIns="0" rtlCol="0" anchor="ctr"/>
          <a:lstStyle/>
          <a:p>
            <a:pPr indent="0" marL="0">
              <a:buNone/>
            </a:pPr>
            <a:r>
              <a:rPr lang="en-US" sz="900" dirty="0">
                <a:solidFill>
                  <a:srgbClr val="8A93A6"/>
                </a:solidFill>
                <a:latin typeface="Verdana" pitchFamily="34" charset="0"/>
                <a:ea typeface="Verdana" pitchFamily="34" charset="-122"/>
                <a:cs typeface="Verdana" pitchFamily="34" charset="-120"/>
              </a:rPr>
              <a:t>SLIDE 4 — AUDIENCE</a:t>
            </a:r>
            <a:endParaRPr lang="en-US" sz="900" dirty="0"/>
          </a:p>
        </p:txBody>
      </p:sp>
      <p:sp>
        <p:nvSpPr>
          <p:cNvPr id="36" name="Text 34"/>
          <p:cNvSpPr/>
          <p:nvPr/>
        </p:nvSpPr>
        <p:spPr>
          <a:xfrm>
            <a:off x="8229600" y="6473952"/>
            <a:ext cx="3474720" cy="274320"/>
          </a:xfrm>
          <a:prstGeom prst="rect">
            <a:avLst/>
          </a:prstGeom>
          <a:noFill/>
          <a:ln/>
        </p:spPr>
        <p:txBody>
          <a:bodyPr wrap="square" lIns="0" tIns="0" rIns="0" bIns="0" rtlCol="0" anchor="ctr"/>
          <a:lstStyle/>
          <a:p>
            <a:pPr algn="r" indent="0" marL="0">
              <a:buNone/>
            </a:pPr>
            <a:r>
              <a:rPr lang="en-US" sz="900" spc="100" kern="0" dirty="0">
                <a:solidFill>
                  <a:srgbClr val="8A93A6"/>
                </a:solidFill>
                <a:latin typeface="Verdana" pitchFamily="34" charset="0"/>
                <a:ea typeface="Verdana" pitchFamily="34" charset="-122"/>
                <a:cs typeface="Verdana" pitchFamily="34" charset="-120"/>
              </a:rPr>
              <a:t>TEAM MOTIF · DECO3500</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548640" y="411480"/>
            <a:ext cx="7315200" cy="731520"/>
          </a:xfrm>
          <a:prstGeom prst="rect">
            <a:avLst/>
          </a:prstGeom>
          <a:noFill/>
          <a:ln/>
        </p:spPr>
        <p:txBody>
          <a:bodyPr wrap="square" lIns="0" tIns="0" rIns="0" bIns="0" rtlCol="0" anchor="ctr"/>
          <a:lstStyle/>
          <a:p>
            <a:pPr indent="0" marL="0">
              <a:buNone/>
            </a:pPr>
            <a:r>
              <a:rPr lang="en-US" sz="3200" b="1" dirty="0">
                <a:solidFill>
                  <a:srgbClr val="F5F0E6"/>
                </a:solidFill>
                <a:latin typeface="Trebuchet MS" pitchFamily="34" charset="0"/>
                <a:ea typeface="Trebuchet MS" pitchFamily="34" charset="-122"/>
                <a:cs typeface="Trebuchet MS" pitchFamily="34" charset="-120"/>
              </a:rPr>
              <a:t>Plan of work</a:t>
            </a:r>
            <a:endParaRPr lang="en-US" sz="3200" dirty="0"/>
          </a:p>
        </p:txBody>
      </p:sp>
      <p:sp>
        <p:nvSpPr>
          <p:cNvPr id="3" name="Shape 1"/>
          <p:cNvSpPr/>
          <p:nvPr/>
        </p:nvSpPr>
        <p:spPr>
          <a:xfrm>
            <a:off x="548640" y="1051560"/>
            <a:ext cx="5029200" cy="0"/>
          </a:xfrm>
          <a:prstGeom prst="line">
            <a:avLst/>
          </a:prstGeom>
          <a:noFill/>
          <a:ln w="19050">
            <a:solidFill>
              <a:srgbClr val="F0447E"/>
            </a:solidFill>
            <a:prstDash val="solid"/>
          </a:ln>
        </p:spPr>
        <p:txBody>
          <a:bodyPr/>
          <a:p/>
        </p:txBody>
      </p:sp>
      <p:sp>
        <p:nvSpPr>
          <p:cNvPr id="4" name="Text 2"/>
          <p:cNvSpPr/>
          <p:nvPr/>
        </p:nvSpPr>
        <p:spPr>
          <a:xfrm>
            <a:off x="548640" y="1133856"/>
            <a:ext cx="10058400" cy="365760"/>
          </a:xfrm>
          <a:prstGeom prst="rect">
            <a:avLst/>
          </a:prstGeom>
          <a:noFill/>
          <a:ln/>
        </p:spPr>
        <p:txBody>
          <a:bodyPr wrap="square" lIns="0" tIns="0" rIns="0" bIns="0" rtlCol="0" anchor="ctr"/>
          <a:lstStyle/>
          <a:p>
            <a:pPr indent="0" marL="0">
              <a:buNone/>
            </a:pPr>
            <a:r>
              <a:rPr lang="en-US" sz="1250" i="1" dirty="0">
                <a:solidFill>
                  <a:srgbClr val="F0447E"/>
                </a:solidFill>
                <a:latin typeface="Verdana" pitchFamily="34" charset="0"/>
                <a:ea typeface="Verdana" pitchFamily="34" charset="-122"/>
                <a:cs typeface="Verdana" pitchFamily="34" charset="-120"/>
              </a:rPr>
              <a:t>What we still need to find out, and how we'll narrow the concept.</a:t>
            </a:r>
            <a:endParaRPr lang="en-US" sz="1250" dirty="0"/>
          </a:p>
        </p:txBody>
      </p:sp>
      <p:sp>
        <p:nvSpPr>
          <p:cNvPr id="5" name="Text 3"/>
          <p:cNvSpPr/>
          <p:nvPr/>
        </p:nvSpPr>
        <p:spPr>
          <a:xfrm>
            <a:off x="548640" y="1691640"/>
            <a:ext cx="5029200" cy="292608"/>
          </a:xfrm>
          <a:prstGeom prst="rect">
            <a:avLst/>
          </a:prstGeom>
          <a:noFill/>
          <a:ln/>
        </p:spPr>
        <p:txBody>
          <a:bodyPr wrap="square" lIns="0" tIns="0" rIns="0" bIns="0" rtlCol="0" anchor="ctr"/>
          <a:lstStyle/>
          <a:p>
            <a:pPr indent="0" marL="0">
              <a:buNone/>
            </a:pPr>
            <a:r>
              <a:rPr lang="en-US" sz="1300" b="1" spc="50" kern="0" dirty="0">
                <a:solidFill>
                  <a:srgbClr val="E8663A"/>
                </a:solidFill>
                <a:latin typeface="Trebuchet MS" pitchFamily="34" charset="0"/>
                <a:ea typeface="Trebuchet MS" pitchFamily="34" charset="-122"/>
                <a:cs typeface="Trebuchet MS" pitchFamily="34" charset="-120"/>
              </a:rPr>
              <a:t>OPEN QUESTIONS</a:t>
            </a:r>
            <a:endParaRPr lang="en-US" sz="1300" dirty="0"/>
          </a:p>
        </p:txBody>
      </p:sp>
      <p:sp>
        <p:nvSpPr>
          <p:cNvPr id="6" name="Text 4"/>
          <p:cNvSpPr/>
          <p:nvPr/>
        </p:nvSpPr>
        <p:spPr>
          <a:xfrm>
            <a:off x="548640" y="2029968"/>
            <a:ext cx="5120640" cy="2103120"/>
          </a:xfrm>
          <a:prstGeom prst="rect">
            <a:avLst/>
          </a:prstGeom>
          <a:noFill/>
          <a:ln/>
        </p:spPr>
        <p:txBody>
          <a:bodyPr wrap="square" lIns="0" tIns="0" rIns="0" bIns="0" rtlCol="0" anchor="ctr"/>
          <a:lstStyle/>
          <a:p>
            <a:pPr marL="342900" indent="-342900">
              <a:spcAft>
                <a:spcPts val="800"/>
              </a:spcAft>
              <a:buSzPct val="100000"/>
              <a:buChar char="▸"/>
            </a:pPr>
            <a:r>
              <a:rPr lang="en-US" sz="1000" dirty="0">
                <a:solidFill>
                  <a:srgbClr val="F5F0E6"/>
                </a:solidFill>
                <a:latin typeface="Verdana" pitchFamily="34" charset="0"/>
                <a:ea typeface="Verdana" pitchFamily="34" charset="-122"/>
                <a:cs typeface="Verdana" pitchFamily="34" charset="-120"/>
              </a:rPr>
              <a:t>How much should be wiki/encyclopedic vs. social/Drop &amp; Remix?</a:t>
            </a:r>
            <a:endParaRPr lang="en-US" sz="1000" dirty="0"/>
          </a:p>
          <a:p>
            <a:pPr marL="342900" indent="-342900">
              <a:spcAft>
                <a:spcPts val="800"/>
              </a:spcAft>
              <a:buSzPct val="100000"/>
              <a:buChar char="▸"/>
            </a:pPr>
            <a:r>
              <a:rPr lang="en-US" sz="1000" dirty="0">
                <a:solidFill>
                  <a:srgbClr val="F5F0E6"/>
                </a:solidFill>
                <a:latin typeface="Verdana" pitchFamily="34" charset="0"/>
                <a:ea typeface="Verdana" pitchFamily="34" charset="-122"/>
                <a:cs typeface="Verdana" pitchFamily="34" charset="-120"/>
              </a:rPr>
              <a:t>Will people contribute cultural content, or only consume it?</a:t>
            </a:r>
            <a:endParaRPr lang="en-US" sz="1000" dirty="0"/>
          </a:p>
          <a:p>
            <a:pPr marL="342900" indent="-342900">
              <a:spcAft>
                <a:spcPts val="800"/>
              </a:spcAft>
              <a:buSzPct val="100000"/>
              <a:buChar char="▸"/>
            </a:pPr>
            <a:r>
              <a:rPr lang="en-US" sz="1000" dirty="0">
                <a:solidFill>
                  <a:srgbClr val="F5F0E6"/>
                </a:solidFill>
                <a:latin typeface="Verdana" pitchFamily="34" charset="0"/>
                <a:ea typeface="Verdana" pitchFamily="34" charset="-122"/>
                <a:cs typeface="Verdana" pitchFamily="34" charset="-120"/>
              </a:rPr>
              <a:t>Who decides accuracy when two contributors describe a tradition differently — what's the moderation/dispute model?</a:t>
            </a:r>
            <a:endParaRPr lang="en-US" sz="1000" dirty="0"/>
          </a:p>
          <a:p>
            <a:pPr marL="342900" indent="-342900">
              <a:spcAft>
                <a:spcPts val="800"/>
              </a:spcAft>
              <a:buSzPct val="100000"/>
              <a:buChar char="▸"/>
            </a:pPr>
            <a:r>
              <a:rPr lang="en-US" sz="1000" dirty="0">
                <a:solidFill>
                  <a:srgbClr val="F5F0E6"/>
                </a:solidFill>
                <a:latin typeface="Verdana" pitchFamily="34" charset="0"/>
                <a:ea typeface="Verdana" pitchFamily="34" charset="-122"/>
                <a:cs typeface="Verdana" pitchFamily="34" charset="-120"/>
              </a:rPr>
              <a:t>Does local relevance beat broad discovery, as our interviews suggest?</a:t>
            </a:r>
            <a:endParaRPr lang="en-US" sz="1000" dirty="0"/>
          </a:p>
          <a:p>
            <a:pPr marL="342900" indent="-342900">
              <a:spcAft>
                <a:spcPts val="800"/>
              </a:spcAft>
              <a:buSzPct val="100000"/>
              <a:buChar char="▸"/>
            </a:pPr>
            <a:r>
              <a:rPr lang="en-US" sz="1000" dirty="0">
                <a:solidFill>
                  <a:srgbClr val="F5F0E6"/>
                </a:solidFill>
                <a:latin typeface="Verdana" pitchFamily="34" charset="0"/>
                <a:ea typeface="Verdana" pitchFamily="34" charset="-122"/>
                <a:cs typeface="Verdana" pitchFamily="34" charset="-120"/>
              </a:rPr>
              <a:t>Why would someone actually want to share their culture — with strangers, or only people they know?</a:t>
            </a:r>
            <a:endParaRPr lang="en-US" sz="1000" dirty="0"/>
          </a:p>
        </p:txBody>
      </p:sp>
      <p:sp>
        <p:nvSpPr>
          <p:cNvPr id="7" name="Text 5"/>
          <p:cNvSpPr/>
          <p:nvPr/>
        </p:nvSpPr>
        <p:spPr>
          <a:xfrm>
            <a:off x="6035040" y="1691640"/>
            <a:ext cx="5029200" cy="292608"/>
          </a:xfrm>
          <a:prstGeom prst="rect">
            <a:avLst/>
          </a:prstGeom>
          <a:noFill/>
          <a:ln/>
        </p:spPr>
        <p:txBody>
          <a:bodyPr wrap="square" lIns="0" tIns="0" rIns="0" bIns="0" rtlCol="0" anchor="ctr"/>
          <a:lstStyle/>
          <a:p>
            <a:pPr indent="0" marL="0">
              <a:buNone/>
            </a:pPr>
            <a:r>
              <a:rPr lang="en-US" sz="1300" b="1" spc="50" kern="0" dirty="0">
                <a:solidFill>
                  <a:srgbClr val="E8663A"/>
                </a:solidFill>
                <a:latin typeface="Trebuchet MS" pitchFamily="34" charset="0"/>
                <a:ea typeface="Trebuchet MS" pitchFamily="34" charset="-122"/>
                <a:cs typeface="Trebuchet MS" pitchFamily="34" charset="-120"/>
              </a:rPr>
              <a:t>METHODS</a:t>
            </a:r>
            <a:endParaRPr lang="en-US" sz="1300" dirty="0"/>
          </a:p>
        </p:txBody>
      </p:sp>
      <p:sp>
        <p:nvSpPr>
          <p:cNvPr id="8" name="Text 6"/>
          <p:cNvSpPr/>
          <p:nvPr/>
        </p:nvSpPr>
        <p:spPr>
          <a:xfrm>
            <a:off x="6035040" y="2029968"/>
            <a:ext cx="5486400" cy="1737360"/>
          </a:xfrm>
          <a:prstGeom prst="rect">
            <a:avLst/>
          </a:prstGeom>
          <a:noFill/>
          <a:ln/>
        </p:spPr>
        <p:txBody>
          <a:bodyPr wrap="square" lIns="0" tIns="0" rIns="0" bIns="0" rtlCol="0" anchor="ctr"/>
          <a:lstStyle/>
          <a:p>
            <a:pPr indent="0" marL="0">
              <a:buNone/>
            </a:pPr>
            <a:r>
              <a:rPr lang="en-US" sz="950" dirty="0">
                <a:solidFill>
                  <a:srgbClr val="F5F0E6"/>
                </a:solidFill>
                <a:latin typeface="Verdana" pitchFamily="34" charset="0"/>
                <a:ea typeface="Verdana" pitchFamily="34" charset="-122"/>
                <a:cs typeface="Verdana" pitchFamily="34" charset="-120"/>
              </a:rPr>
              <a:t>Semi-structured interviews (6 done, ~2 more planned — targeting different cultural backgrounds and states, not just UQ-adjacent participants) · one-week cultural probe/diary study · contextual observation at a local venue and market · paper-prototype comparison test · think-aloud usability rounds on the build</a:t>
            </a:r>
            <a:endParaRPr lang="en-US" sz="950" dirty="0"/>
          </a:p>
        </p:txBody>
      </p:sp>
      <p:sp>
        <p:nvSpPr>
          <p:cNvPr id="9" name="Shape 7"/>
          <p:cNvSpPr/>
          <p:nvPr/>
        </p:nvSpPr>
        <p:spPr>
          <a:xfrm>
            <a:off x="548640" y="4114800"/>
            <a:ext cx="2048256" cy="1783080"/>
          </a:xfrm>
          <a:prstGeom prst="roundRect">
            <a:avLst>
              <a:gd name="adj" fmla="val 5128"/>
            </a:avLst>
          </a:prstGeom>
          <a:solidFill>
            <a:srgbClr val="1B2130"/>
          </a:solidFill>
          <a:ln w="9525">
            <a:solidFill>
              <a:srgbClr val="2AC9B8"/>
            </a:solidFill>
            <a:prstDash val="solid"/>
          </a:ln>
        </p:spPr>
        <p:txBody>
          <a:bodyPr/>
          <a:p/>
        </p:txBody>
      </p:sp>
      <p:sp>
        <p:nvSpPr>
          <p:cNvPr id="10" name="Text 8"/>
          <p:cNvSpPr/>
          <p:nvPr/>
        </p:nvSpPr>
        <p:spPr>
          <a:xfrm>
            <a:off x="685800" y="4251960"/>
            <a:ext cx="1773936" cy="292608"/>
          </a:xfrm>
          <a:prstGeom prst="rect">
            <a:avLst/>
          </a:prstGeom>
          <a:noFill/>
          <a:ln/>
        </p:spPr>
        <p:txBody>
          <a:bodyPr wrap="square" lIns="0" tIns="0" rIns="0" bIns="0" rtlCol="0" anchor="ctr"/>
          <a:lstStyle/>
          <a:p>
            <a:pPr indent="0" marL="0">
              <a:buNone/>
            </a:pPr>
            <a:r>
              <a:rPr lang="en-US" sz="1200" b="1" spc="50" kern="0" dirty="0">
                <a:solidFill>
                  <a:srgbClr val="2AC9B8"/>
                </a:solidFill>
                <a:latin typeface="Trebuchet MS" pitchFamily="34" charset="0"/>
                <a:ea typeface="Trebuchet MS" pitchFamily="34" charset="-122"/>
                <a:cs typeface="Trebuchet MS" pitchFamily="34" charset="-120"/>
              </a:rPr>
              <a:t>WK 6</a:t>
            </a:r>
            <a:endParaRPr lang="en-US" sz="1200" dirty="0"/>
          </a:p>
        </p:txBody>
      </p:sp>
      <p:sp>
        <p:nvSpPr>
          <p:cNvPr id="11" name="Text 9"/>
          <p:cNvSpPr/>
          <p:nvPr/>
        </p:nvSpPr>
        <p:spPr>
          <a:xfrm>
            <a:off x="685800" y="4617720"/>
            <a:ext cx="1773936" cy="365760"/>
          </a:xfrm>
          <a:prstGeom prst="rect">
            <a:avLst/>
          </a:prstGeom>
          <a:noFill/>
          <a:ln/>
        </p:spPr>
        <p:txBody>
          <a:bodyPr wrap="square" lIns="0" tIns="0" rIns="0" bIns="0" rtlCol="0" anchor="ctr"/>
          <a:lstStyle/>
          <a:p>
            <a:pPr indent="0" marL="0">
              <a:buNone/>
            </a:pPr>
            <a:r>
              <a:rPr lang="en-US" sz="1100" b="1" dirty="0">
                <a:solidFill>
                  <a:srgbClr val="F5F0E6"/>
                </a:solidFill>
                <a:latin typeface="Verdana" pitchFamily="34" charset="0"/>
                <a:ea typeface="Verdana" pitchFamily="34" charset="-122"/>
                <a:cs typeface="Verdana" pitchFamily="34" charset="-120"/>
              </a:rPr>
              <a:t>Finish interviews</a:t>
            </a:r>
            <a:endParaRPr lang="en-US" sz="1100" dirty="0"/>
          </a:p>
        </p:txBody>
      </p:sp>
      <p:sp>
        <p:nvSpPr>
          <p:cNvPr id="12" name="Text 10"/>
          <p:cNvSpPr/>
          <p:nvPr/>
        </p:nvSpPr>
        <p:spPr>
          <a:xfrm>
            <a:off x="685800" y="5010912"/>
            <a:ext cx="1773936" cy="822960"/>
          </a:xfrm>
          <a:prstGeom prst="rect">
            <a:avLst/>
          </a:prstGeom>
          <a:noFill/>
          <a:ln/>
        </p:spPr>
        <p:txBody>
          <a:bodyPr wrap="square" lIns="0" tIns="0" rIns="0" bIns="0" rtlCol="0" anchor="ctr"/>
          <a:lstStyle/>
          <a:p>
            <a:pPr indent="0" marL="0">
              <a:buNone/>
            </a:pPr>
            <a:r>
              <a:rPr lang="en-US" sz="900" dirty="0">
                <a:solidFill>
                  <a:srgbClr val="8A93A6"/>
                </a:solidFill>
                <a:latin typeface="Verdana" pitchFamily="34" charset="0"/>
                <a:ea typeface="Verdana" pitchFamily="34" charset="-122"/>
                <a:cs typeface="Verdana" pitchFamily="34" charset="-120"/>
              </a:rPr>
              <a:t>Diary study out; concept variants on paper</a:t>
            </a:r>
            <a:endParaRPr lang="en-US" sz="900" dirty="0"/>
          </a:p>
        </p:txBody>
      </p:sp>
      <p:sp>
        <p:nvSpPr>
          <p:cNvPr id="13" name="Shape 11"/>
          <p:cNvSpPr/>
          <p:nvPr/>
        </p:nvSpPr>
        <p:spPr>
          <a:xfrm>
            <a:off x="2606040" y="5029200"/>
            <a:ext cx="201168" cy="0"/>
          </a:xfrm>
          <a:prstGeom prst="line">
            <a:avLst/>
          </a:prstGeom>
          <a:noFill/>
          <a:ln w="19050">
            <a:solidFill>
              <a:srgbClr val="E8663A"/>
            </a:solidFill>
            <a:prstDash val="solid"/>
            <a:tailEnd type="triangle"/>
          </a:ln>
        </p:spPr>
        <p:txBody>
          <a:bodyPr/>
          <a:p/>
        </p:txBody>
      </p:sp>
      <p:sp>
        <p:nvSpPr>
          <p:cNvPr id="14" name="Shape 12"/>
          <p:cNvSpPr/>
          <p:nvPr/>
        </p:nvSpPr>
        <p:spPr>
          <a:xfrm>
            <a:off x="2816352" y="4114800"/>
            <a:ext cx="2048256" cy="1783080"/>
          </a:xfrm>
          <a:prstGeom prst="roundRect">
            <a:avLst>
              <a:gd name="adj" fmla="val 5128"/>
            </a:avLst>
          </a:prstGeom>
          <a:solidFill>
            <a:srgbClr val="1B2130"/>
          </a:solidFill>
          <a:ln w="9525">
            <a:solidFill>
              <a:srgbClr val="E8663A"/>
            </a:solidFill>
            <a:prstDash val="solid"/>
          </a:ln>
        </p:spPr>
        <p:txBody>
          <a:bodyPr/>
          <a:p/>
        </p:txBody>
      </p:sp>
      <p:sp>
        <p:nvSpPr>
          <p:cNvPr id="15" name="Text 13"/>
          <p:cNvSpPr/>
          <p:nvPr/>
        </p:nvSpPr>
        <p:spPr>
          <a:xfrm>
            <a:off x="2953512" y="4251960"/>
            <a:ext cx="1773936" cy="292608"/>
          </a:xfrm>
          <a:prstGeom prst="rect">
            <a:avLst/>
          </a:prstGeom>
          <a:noFill/>
          <a:ln/>
        </p:spPr>
        <p:txBody>
          <a:bodyPr wrap="square" lIns="0" tIns="0" rIns="0" bIns="0" rtlCol="0" anchor="ctr"/>
          <a:lstStyle/>
          <a:p>
            <a:pPr indent="0" marL="0">
              <a:buNone/>
            </a:pPr>
            <a:r>
              <a:rPr lang="en-US" sz="1200" b="1" spc="50" kern="0" dirty="0">
                <a:solidFill>
                  <a:srgbClr val="E8663A"/>
                </a:solidFill>
                <a:latin typeface="Trebuchet MS" pitchFamily="34" charset="0"/>
                <a:ea typeface="Trebuchet MS" pitchFamily="34" charset="-122"/>
                <a:cs typeface="Trebuchet MS" pitchFamily="34" charset="-120"/>
              </a:rPr>
              <a:t>WK 7</a:t>
            </a:r>
            <a:endParaRPr lang="en-US" sz="1200" dirty="0"/>
          </a:p>
        </p:txBody>
      </p:sp>
      <p:sp>
        <p:nvSpPr>
          <p:cNvPr id="16" name="Text 14"/>
          <p:cNvSpPr/>
          <p:nvPr/>
        </p:nvSpPr>
        <p:spPr>
          <a:xfrm>
            <a:off x="2953512" y="4617720"/>
            <a:ext cx="1773936" cy="365760"/>
          </a:xfrm>
          <a:prstGeom prst="rect">
            <a:avLst/>
          </a:prstGeom>
          <a:noFill/>
          <a:ln/>
        </p:spPr>
        <p:txBody>
          <a:bodyPr wrap="square" lIns="0" tIns="0" rIns="0" bIns="0" rtlCol="0" anchor="ctr"/>
          <a:lstStyle/>
          <a:p>
            <a:pPr indent="0" marL="0">
              <a:buNone/>
            </a:pPr>
            <a:r>
              <a:rPr lang="en-US" sz="1100" b="1" dirty="0">
                <a:solidFill>
                  <a:srgbClr val="F5F0E6"/>
                </a:solidFill>
                <a:latin typeface="Verdana" pitchFamily="34" charset="0"/>
                <a:ea typeface="Verdana" pitchFamily="34" charset="-122"/>
                <a:cs typeface="Verdana" pitchFamily="34" charset="-120"/>
              </a:rPr>
              <a:t>Compare &amp; decide</a:t>
            </a:r>
            <a:endParaRPr lang="en-US" sz="1100" dirty="0"/>
          </a:p>
        </p:txBody>
      </p:sp>
      <p:sp>
        <p:nvSpPr>
          <p:cNvPr id="17" name="Text 15"/>
          <p:cNvSpPr/>
          <p:nvPr/>
        </p:nvSpPr>
        <p:spPr>
          <a:xfrm>
            <a:off x="2953512" y="5010912"/>
            <a:ext cx="1773936" cy="822960"/>
          </a:xfrm>
          <a:prstGeom prst="rect">
            <a:avLst/>
          </a:prstGeom>
          <a:noFill/>
          <a:ln/>
        </p:spPr>
        <p:txBody>
          <a:bodyPr wrap="square" lIns="0" tIns="0" rIns="0" bIns="0" rtlCol="0" anchor="ctr"/>
          <a:lstStyle/>
          <a:p>
            <a:pPr indent="0" marL="0">
              <a:buNone/>
            </a:pPr>
            <a:r>
              <a:rPr lang="en-US" sz="900" dirty="0">
                <a:solidFill>
                  <a:srgbClr val="8A93A6"/>
                </a:solidFill>
                <a:latin typeface="Verdana" pitchFamily="34" charset="0"/>
                <a:ea typeface="Verdana" pitchFamily="34" charset="-122"/>
                <a:cs typeface="Verdana" pitchFamily="34" charset="-120"/>
              </a:rPr>
              <a:t>Test with 5 participants; concept locked</a:t>
            </a:r>
            <a:endParaRPr lang="en-US" sz="900" dirty="0"/>
          </a:p>
        </p:txBody>
      </p:sp>
      <p:sp>
        <p:nvSpPr>
          <p:cNvPr id="18" name="Shape 16"/>
          <p:cNvSpPr/>
          <p:nvPr/>
        </p:nvSpPr>
        <p:spPr>
          <a:xfrm>
            <a:off x="4873752" y="5029200"/>
            <a:ext cx="201168" cy="0"/>
          </a:xfrm>
          <a:prstGeom prst="line">
            <a:avLst/>
          </a:prstGeom>
          <a:noFill/>
          <a:ln w="19050">
            <a:solidFill>
              <a:srgbClr val="E8663A"/>
            </a:solidFill>
            <a:prstDash val="solid"/>
            <a:tailEnd type="triangle"/>
          </a:ln>
        </p:spPr>
        <p:txBody>
          <a:bodyPr/>
          <a:p/>
        </p:txBody>
      </p:sp>
      <p:sp>
        <p:nvSpPr>
          <p:cNvPr id="19" name="Shape 17"/>
          <p:cNvSpPr/>
          <p:nvPr/>
        </p:nvSpPr>
        <p:spPr>
          <a:xfrm>
            <a:off x="5084064" y="4114800"/>
            <a:ext cx="2048256" cy="1783080"/>
          </a:xfrm>
          <a:prstGeom prst="roundRect">
            <a:avLst>
              <a:gd name="adj" fmla="val 5128"/>
            </a:avLst>
          </a:prstGeom>
          <a:solidFill>
            <a:srgbClr val="1B2130"/>
          </a:solidFill>
          <a:ln w="9525">
            <a:solidFill>
              <a:srgbClr val="F0447E"/>
            </a:solidFill>
            <a:prstDash val="solid"/>
          </a:ln>
        </p:spPr>
        <p:txBody>
          <a:bodyPr/>
          <a:p/>
        </p:txBody>
      </p:sp>
      <p:sp>
        <p:nvSpPr>
          <p:cNvPr id="20" name="Text 18"/>
          <p:cNvSpPr/>
          <p:nvPr/>
        </p:nvSpPr>
        <p:spPr>
          <a:xfrm>
            <a:off x="5221224" y="4251960"/>
            <a:ext cx="1773936" cy="292608"/>
          </a:xfrm>
          <a:prstGeom prst="rect">
            <a:avLst/>
          </a:prstGeom>
          <a:noFill/>
          <a:ln/>
        </p:spPr>
        <p:txBody>
          <a:bodyPr wrap="square" lIns="0" tIns="0" rIns="0" bIns="0" rtlCol="0" anchor="ctr"/>
          <a:lstStyle/>
          <a:p>
            <a:pPr indent="0" marL="0">
              <a:buNone/>
            </a:pPr>
            <a:r>
              <a:rPr lang="en-US" sz="1200" b="1" spc="50" kern="0" dirty="0">
                <a:solidFill>
                  <a:srgbClr val="F0447E"/>
                </a:solidFill>
                <a:latin typeface="Trebuchet MS" pitchFamily="34" charset="0"/>
                <a:ea typeface="Trebuchet MS" pitchFamily="34" charset="-122"/>
                <a:cs typeface="Trebuchet MS" pitchFamily="34" charset="-120"/>
              </a:rPr>
              <a:t>WK 8-9</a:t>
            </a:r>
            <a:endParaRPr lang="en-US" sz="1200" dirty="0"/>
          </a:p>
        </p:txBody>
      </p:sp>
      <p:sp>
        <p:nvSpPr>
          <p:cNvPr id="21" name="Text 19"/>
          <p:cNvSpPr/>
          <p:nvPr/>
        </p:nvSpPr>
        <p:spPr>
          <a:xfrm>
            <a:off x="5221224" y="4617720"/>
            <a:ext cx="1773936" cy="365760"/>
          </a:xfrm>
          <a:prstGeom prst="rect">
            <a:avLst/>
          </a:prstGeom>
          <a:noFill/>
          <a:ln/>
        </p:spPr>
        <p:txBody>
          <a:bodyPr wrap="square" lIns="0" tIns="0" rIns="0" bIns="0" rtlCol="0" anchor="ctr"/>
          <a:lstStyle/>
          <a:p>
            <a:pPr indent="0" marL="0">
              <a:buNone/>
            </a:pPr>
            <a:r>
              <a:rPr lang="en-US" sz="1100" b="1" dirty="0">
                <a:solidFill>
                  <a:srgbClr val="F5F0E6"/>
                </a:solidFill>
                <a:latin typeface="Verdana" pitchFamily="34" charset="0"/>
                <a:ea typeface="Verdana" pitchFamily="34" charset="-122"/>
                <a:cs typeface="Verdana" pitchFamily="34" charset="-120"/>
              </a:rPr>
              <a:t>IA &amp; mid-fi</a:t>
            </a:r>
            <a:endParaRPr lang="en-US" sz="1100" dirty="0"/>
          </a:p>
        </p:txBody>
      </p:sp>
      <p:sp>
        <p:nvSpPr>
          <p:cNvPr id="22" name="Text 20"/>
          <p:cNvSpPr/>
          <p:nvPr/>
        </p:nvSpPr>
        <p:spPr>
          <a:xfrm>
            <a:off x="5221224" y="5010912"/>
            <a:ext cx="1773936" cy="822960"/>
          </a:xfrm>
          <a:prstGeom prst="rect">
            <a:avLst/>
          </a:prstGeom>
          <a:noFill/>
          <a:ln/>
        </p:spPr>
        <p:txBody>
          <a:bodyPr wrap="square" lIns="0" tIns="0" rIns="0" bIns="0" rtlCol="0" anchor="ctr"/>
          <a:lstStyle/>
          <a:p>
            <a:pPr indent="0" marL="0">
              <a:buNone/>
            </a:pPr>
            <a:r>
              <a:rPr lang="en-US" sz="900" dirty="0">
                <a:solidFill>
                  <a:srgbClr val="8A93A6"/>
                </a:solidFill>
                <a:latin typeface="Verdana" pitchFamily="34" charset="0"/>
                <a:ea typeface="Verdana" pitchFamily="34" charset="-122"/>
                <a:cs typeface="Verdana" pitchFamily="34" charset="-120"/>
              </a:rPr>
              <a:t>Key screens, clickable Figma prototype</a:t>
            </a:r>
            <a:endParaRPr lang="en-US" sz="900" dirty="0"/>
          </a:p>
        </p:txBody>
      </p:sp>
      <p:sp>
        <p:nvSpPr>
          <p:cNvPr id="23" name="Shape 21"/>
          <p:cNvSpPr/>
          <p:nvPr/>
        </p:nvSpPr>
        <p:spPr>
          <a:xfrm>
            <a:off x="7141464" y="5029200"/>
            <a:ext cx="201168" cy="0"/>
          </a:xfrm>
          <a:prstGeom prst="line">
            <a:avLst/>
          </a:prstGeom>
          <a:noFill/>
          <a:ln w="19050">
            <a:solidFill>
              <a:srgbClr val="E8663A"/>
            </a:solidFill>
            <a:prstDash val="solid"/>
            <a:tailEnd type="triangle"/>
          </a:ln>
        </p:spPr>
        <p:txBody>
          <a:bodyPr/>
          <a:p/>
        </p:txBody>
      </p:sp>
      <p:sp>
        <p:nvSpPr>
          <p:cNvPr id="24" name="Shape 22"/>
          <p:cNvSpPr/>
          <p:nvPr/>
        </p:nvSpPr>
        <p:spPr>
          <a:xfrm>
            <a:off x="7351776" y="4114800"/>
            <a:ext cx="2048256" cy="1783080"/>
          </a:xfrm>
          <a:prstGeom prst="roundRect">
            <a:avLst>
              <a:gd name="adj" fmla="val 5128"/>
            </a:avLst>
          </a:prstGeom>
          <a:solidFill>
            <a:srgbClr val="1B2130"/>
          </a:solidFill>
          <a:ln w="9525">
            <a:solidFill>
              <a:srgbClr val="2AC9B8"/>
            </a:solidFill>
            <a:prstDash val="solid"/>
          </a:ln>
        </p:spPr>
        <p:txBody>
          <a:bodyPr/>
          <a:p/>
        </p:txBody>
      </p:sp>
      <p:sp>
        <p:nvSpPr>
          <p:cNvPr id="25" name="Text 23"/>
          <p:cNvSpPr/>
          <p:nvPr/>
        </p:nvSpPr>
        <p:spPr>
          <a:xfrm>
            <a:off x="7488936" y="4251960"/>
            <a:ext cx="1773936" cy="292608"/>
          </a:xfrm>
          <a:prstGeom prst="rect">
            <a:avLst/>
          </a:prstGeom>
          <a:noFill/>
          <a:ln/>
        </p:spPr>
        <p:txBody>
          <a:bodyPr wrap="square" lIns="0" tIns="0" rIns="0" bIns="0" rtlCol="0" anchor="ctr"/>
          <a:lstStyle/>
          <a:p>
            <a:pPr indent="0" marL="0">
              <a:buNone/>
            </a:pPr>
            <a:r>
              <a:rPr lang="en-US" sz="1200" b="1" spc="50" kern="0" dirty="0">
                <a:solidFill>
                  <a:srgbClr val="2AC9B8"/>
                </a:solidFill>
                <a:latin typeface="Trebuchet MS" pitchFamily="34" charset="0"/>
                <a:ea typeface="Trebuchet MS" pitchFamily="34" charset="-122"/>
                <a:cs typeface="Trebuchet MS" pitchFamily="34" charset="-120"/>
              </a:rPr>
              <a:t>WK 10-11</a:t>
            </a:r>
            <a:endParaRPr lang="en-US" sz="1200" dirty="0"/>
          </a:p>
        </p:txBody>
      </p:sp>
      <p:sp>
        <p:nvSpPr>
          <p:cNvPr id="26" name="Text 24"/>
          <p:cNvSpPr/>
          <p:nvPr/>
        </p:nvSpPr>
        <p:spPr>
          <a:xfrm>
            <a:off x="7488936" y="4617720"/>
            <a:ext cx="1773936" cy="365760"/>
          </a:xfrm>
          <a:prstGeom prst="rect">
            <a:avLst/>
          </a:prstGeom>
          <a:noFill/>
          <a:ln/>
        </p:spPr>
        <p:txBody>
          <a:bodyPr wrap="square" lIns="0" tIns="0" rIns="0" bIns="0" rtlCol="0" anchor="ctr"/>
          <a:lstStyle/>
          <a:p>
            <a:pPr indent="0" marL="0">
              <a:buNone/>
            </a:pPr>
            <a:r>
              <a:rPr lang="en-US" sz="1100" b="1" dirty="0">
                <a:solidFill>
                  <a:srgbClr val="F5F0E6"/>
                </a:solidFill>
                <a:latin typeface="Verdana" pitchFamily="34" charset="0"/>
                <a:ea typeface="Verdana" pitchFamily="34" charset="-122"/>
                <a:cs typeface="Verdana" pitchFamily="34" charset="-120"/>
              </a:rPr>
              <a:t>Build core</a:t>
            </a:r>
            <a:endParaRPr lang="en-US" sz="1100" dirty="0"/>
          </a:p>
        </p:txBody>
      </p:sp>
      <p:sp>
        <p:nvSpPr>
          <p:cNvPr id="27" name="Text 25"/>
          <p:cNvSpPr/>
          <p:nvPr/>
        </p:nvSpPr>
        <p:spPr>
          <a:xfrm>
            <a:off x="7488936" y="5010912"/>
            <a:ext cx="1773936" cy="822960"/>
          </a:xfrm>
          <a:prstGeom prst="rect">
            <a:avLst/>
          </a:prstGeom>
          <a:noFill/>
          <a:ln/>
        </p:spPr>
        <p:txBody>
          <a:bodyPr wrap="square" lIns="0" tIns="0" rIns="0" bIns="0" rtlCol="0" anchor="ctr"/>
          <a:lstStyle/>
          <a:p>
            <a:pPr indent="0" marL="0">
              <a:buNone/>
            </a:pPr>
            <a:r>
              <a:rPr lang="en-US" sz="900" dirty="0">
                <a:solidFill>
                  <a:srgbClr val="8A93A6"/>
                </a:solidFill>
                <a:latin typeface="Verdana" pitchFamily="34" charset="0"/>
                <a:ea typeface="Verdana" pitchFamily="34" charset="-122"/>
                <a:cs typeface="Verdana" pitchFamily="34" charset="-120"/>
              </a:rPr>
              <a:t>Real functionality on core loop, rest simulated</a:t>
            </a:r>
            <a:endParaRPr lang="en-US" sz="900" dirty="0"/>
          </a:p>
        </p:txBody>
      </p:sp>
      <p:sp>
        <p:nvSpPr>
          <p:cNvPr id="28" name="Shape 26"/>
          <p:cNvSpPr/>
          <p:nvPr/>
        </p:nvSpPr>
        <p:spPr>
          <a:xfrm>
            <a:off x="9409176" y="5029200"/>
            <a:ext cx="201168" cy="0"/>
          </a:xfrm>
          <a:prstGeom prst="line">
            <a:avLst/>
          </a:prstGeom>
          <a:noFill/>
          <a:ln w="19050">
            <a:solidFill>
              <a:srgbClr val="E8663A"/>
            </a:solidFill>
            <a:prstDash val="solid"/>
            <a:tailEnd type="triangle"/>
          </a:ln>
        </p:spPr>
        <p:txBody>
          <a:bodyPr/>
          <a:p/>
        </p:txBody>
      </p:sp>
      <p:sp>
        <p:nvSpPr>
          <p:cNvPr id="29" name="Shape 27"/>
          <p:cNvSpPr/>
          <p:nvPr/>
        </p:nvSpPr>
        <p:spPr>
          <a:xfrm>
            <a:off x="9619488" y="4114800"/>
            <a:ext cx="2048256" cy="1783080"/>
          </a:xfrm>
          <a:prstGeom prst="roundRect">
            <a:avLst>
              <a:gd name="adj" fmla="val 5128"/>
            </a:avLst>
          </a:prstGeom>
          <a:solidFill>
            <a:srgbClr val="1B2130"/>
          </a:solidFill>
          <a:ln w="9525">
            <a:solidFill>
              <a:srgbClr val="E8663A"/>
            </a:solidFill>
            <a:prstDash val="solid"/>
          </a:ln>
        </p:spPr>
        <p:txBody>
          <a:bodyPr/>
          <a:p/>
        </p:txBody>
      </p:sp>
      <p:sp>
        <p:nvSpPr>
          <p:cNvPr id="30" name="Text 28"/>
          <p:cNvSpPr/>
          <p:nvPr/>
        </p:nvSpPr>
        <p:spPr>
          <a:xfrm>
            <a:off x="9756648" y="4251960"/>
            <a:ext cx="1773936" cy="292608"/>
          </a:xfrm>
          <a:prstGeom prst="rect">
            <a:avLst/>
          </a:prstGeom>
          <a:noFill/>
          <a:ln/>
        </p:spPr>
        <p:txBody>
          <a:bodyPr wrap="square" lIns="0" tIns="0" rIns="0" bIns="0" rtlCol="0" anchor="ctr"/>
          <a:lstStyle/>
          <a:p>
            <a:pPr indent="0" marL="0">
              <a:buNone/>
            </a:pPr>
            <a:r>
              <a:rPr lang="en-US" sz="1200" b="1" spc="50" kern="0" dirty="0">
                <a:solidFill>
                  <a:srgbClr val="E8663A"/>
                </a:solidFill>
                <a:latin typeface="Trebuchet MS" pitchFamily="34" charset="0"/>
                <a:ea typeface="Trebuchet MS" pitchFamily="34" charset="-122"/>
                <a:cs typeface="Trebuchet MS" pitchFamily="34" charset="-120"/>
              </a:rPr>
              <a:t>WK 12-13</a:t>
            </a:r>
            <a:endParaRPr lang="en-US" sz="1200" dirty="0"/>
          </a:p>
        </p:txBody>
      </p:sp>
      <p:sp>
        <p:nvSpPr>
          <p:cNvPr id="31" name="Text 29"/>
          <p:cNvSpPr/>
          <p:nvPr/>
        </p:nvSpPr>
        <p:spPr>
          <a:xfrm>
            <a:off x="9756648" y="4617720"/>
            <a:ext cx="1773936" cy="365760"/>
          </a:xfrm>
          <a:prstGeom prst="rect">
            <a:avLst/>
          </a:prstGeom>
          <a:noFill/>
          <a:ln/>
        </p:spPr>
        <p:txBody>
          <a:bodyPr wrap="square" lIns="0" tIns="0" rIns="0" bIns="0" rtlCol="0" anchor="ctr"/>
          <a:lstStyle/>
          <a:p>
            <a:pPr indent="0" marL="0">
              <a:buNone/>
            </a:pPr>
            <a:r>
              <a:rPr lang="en-US" sz="1100" b="1" dirty="0">
                <a:solidFill>
                  <a:srgbClr val="F5F0E6"/>
                </a:solidFill>
                <a:latin typeface="Verdana" pitchFamily="34" charset="0"/>
                <a:ea typeface="Verdana" pitchFamily="34" charset="-122"/>
                <a:cs typeface="Verdana" pitchFamily="34" charset="-120"/>
              </a:rPr>
              <a:t>Test &amp; ship</a:t>
            </a:r>
            <a:endParaRPr lang="en-US" sz="1100" dirty="0"/>
          </a:p>
        </p:txBody>
      </p:sp>
      <p:sp>
        <p:nvSpPr>
          <p:cNvPr id="32" name="Text 30"/>
          <p:cNvSpPr/>
          <p:nvPr/>
        </p:nvSpPr>
        <p:spPr>
          <a:xfrm>
            <a:off x="9756648" y="5010912"/>
            <a:ext cx="1773936" cy="822960"/>
          </a:xfrm>
          <a:prstGeom prst="rect">
            <a:avLst/>
          </a:prstGeom>
          <a:noFill/>
          <a:ln/>
        </p:spPr>
        <p:txBody>
          <a:bodyPr wrap="square" lIns="0" tIns="0" rIns="0" bIns="0" rtlCol="0" anchor="ctr"/>
          <a:lstStyle/>
          <a:p>
            <a:pPr indent="0" marL="0">
              <a:buNone/>
            </a:pPr>
            <a:r>
              <a:rPr lang="en-US" sz="900" dirty="0">
                <a:solidFill>
                  <a:srgbClr val="8A93A6"/>
                </a:solidFill>
                <a:latin typeface="Verdana" pitchFamily="34" charset="0"/>
                <a:ea typeface="Verdana" pitchFamily="34" charset="-122"/>
                <a:cs typeface="Verdana" pitchFamily="34" charset="-120"/>
              </a:rPr>
              <a:t>Usability round, final prototype &amp; docs</a:t>
            </a:r>
            <a:endParaRPr lang="en-US" sz="900" dirty="0"/>
          </a:p>
        </p:txBody>
      </p:sp>
      <p:sp>
        <p:nvSpPr>
          <p:cNvPr id="33" name="Text 31"/>
          <p:cNvSpPr/>
          <p:nvPr/>
        </p:nvSpPr>
        <p:spPr>
          <a:xfrm>
            <a:off x="457200" y="6473952"/>
            <a:ext cx="7315200" cy="274320"/>
          </a:xfrm>
          <a:prstGeom prst="rect">
            <a:avLst/>
          </a:prstGeom>
          <a:noFill/>
          <a:ln/>
        </p:spPr>
        <p:txBody>
          <a:bodyPr wrap="square" lIns="0" tIns="0" rIns="0" bIns="0" rtlCol="0" anchor="ctr"/>
          <a:lstStyle/>
          <a:p>
            <a:pPr indent="0" marL="0">
              <a:buNone/>
            </a:pPr>
            <a:r>
              <a:rPr lang="en-US" sz="900" dirty="0">
                <a:solidFill>
                  <a:srgbClr val="8A93A6"/>
                </a:solidFill>
                <a:latin typeface="Verdana" pitchFamily="34" charset="0"/>
                <a:ea typeface="Verdana" pitchFamily="34" charset="-122"/>
                <a:cs typeface="Verdana" pitchFamily="34" charset="-120"/>
              </a:rPr>
              <a:t>SLIDE 5 — PLAN OF WORK &amp; METHODS</a:t>
            </a:r>
            <a:endParaRPr lang="en-US" sz="900" dirty="0"/>
          </a:p>
        </p:txBody>
      </p:sp>
      <p:sp>
        <p:nvSpPr>
          <p:cNvPr id="34" name="Text 32"/>
          <p:cNvSpPr/>
          <p:nvPr/>
        </p:nvSpPr>
        <p:spPr>
          <a:xfrm>
            <a:off x="8229600" y="6473952"/>
            <a:ext cx="3474720" cy="274320"/>
          </a:xfrm>
          <a:prstGeom prst="rect">
            <a:avLst/>
          </a:prstGeom>
          <a:noFill/>
          <a:ln/>
        </p:spPr>
        <p:txBody>
          <a:bodyPr wrap="square" lIns="0" tIns="0" rIns="0" bIns="0" rtlCol="0" anchor="ctr"/>
          <a:lstStyle/>
          <a:p>
            <a:pPr algn="r" indent="0" marL="0">
              <a:buNone/>
            </a:pPr>
            <a:r>
              <a:rPr lang="en-US" sz="900" spc="100" kern="0" dirty="0">
                <a:solidFill>
                  <a:srgbClr val="8A93A6"/>
                </a:solidFill>
                <a:latin typeface="Verdana" pitchFamily="34" charset="0"/>
                <a:ea typeface="Verdana" pitchFamily="34" charset="-122"/>
                <a:cs typeface="Verdana" pitchFamily="34" charset="-120"/>
              </a:rPr>
              <a:t>TEAM MOTIF · DECO3500</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2026-09-07T20:57:19Z</dcterms:created>
  <dcterms:modified xsi:type="dcterms:W3CDTF">2026-09-07T20:57:19Z</dcterms:modified>
</cp:coreProperties>
</file>